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6" d="100"/>
          <a:sy n="56" d="100"/>
        </p:scale>
        <p:origin x="-1016" y="-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A5B29C3-38F0-46F2-9D55-1C7C6010E70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80FAE14-895E-4E23-9CB2-1B24061EDB99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7FAF5E8-916A-4839-B63F-2B4C056C355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5D3E051-8492-4F40-A93D-DF06D607D1F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C20B970-1909-4F89-88F8-21746127DDE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7098766-19DF-42AC-A577-109FDEFF6B3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A8C2410-1182-4243-B5F4-26E38AE4EBF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4F958A7-6D84-46B5-B6F9-F57B5A40322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7120A50-82FD-41AA-B43E-7A7A4178F51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4EA3F42-1839-47F5-A76E-891BC4F56E7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676072F-51BA-43A4-8A62-D2D3215929B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3F5C001-7DBB-4640-9F07-906C0A905048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IN" sz="1400" b="0" strike="noStrike" spc="-1">
                <a:latin typeface="Times New Roman"/>
              </a:defRPr>
            </a:lvl1pPr>
          </a:lstStyle>
          <a:p>
            <a:r>
              <a:rPr lang="en-IN" sz="1400" b="0" strike="noStrike" spc="-1">
                <a:latin typeface="Times New Roman"/>
              </a:rPr>
              <a:t> 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C9823BA-66B8-4C2F-8906-860F45A5CD3D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88;p1"/>
          <p:cNvSpPr/>
          <p:nvPr/>
        </p:nvSpPr>
        <p:spPr>
          <a:xfrm>
            <a:off x="4398120" y="3265920"/>
            <a:ext cx="30531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/>
              <a:t/>
            </a:r>
            <a:br>
              <a:rPr sz="1800"/>
            </a:b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Novartis Discoverathon 2026</a:t>
            </a:r>
            <a:r>
              <a:rPr sz="1800"/>
              <a:t/>
            </a:r>
            <a:br>
              <a:rPr sz="1800"/>
            </a:b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Calibri"/>
              </a:rPr>
              <a:t>Team Sanjeevani 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42" name="Google Shape;89;p1"/>
          <p:cNvSpPr/>
          <p:nvPr/>
        </p:nvSpPr>
        <p:spPr>
          <a:xfrm>
            <a:off x="489240" y="2638080"/>
            <a:ext cx="110458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strike="noStrike" spc="-1">
                <a:solidFill>
                  <a:srgbClr val="C00000"/>
                </a:solidFill>
                <a:latin typeface="Arial"/>
                <a:ea typeface="Calibri"/>
              </a:rPr>
              <a:t>Predicting Drug Combination Activity</a:t>
            </a:r>
            <a:endParaRPr lang="en-IN" sz="3000" b="0" strike="noStrike" spc="-1">
              <a:latin typeface="Arial"/>
            </a:endParaRPr>
          </a:p>
        </p:txBody>
      </p:sp>
      <p:pic>
        <p:nvPicPr>
          <p:cNvPr id="43" name="Google Shape;90;p1"/>
          <p:cNvPicPr/>
          <p:nvPr/>
        </p:nvPicPr>
        <p:blipFill>
          <a:blip r:embed="rId2"/>
          <a:stretch/>
        </p:blipFill>
        <p:spPr>
          <a:xfrm>
            <a:off x="73440" y="9720"/>
            <a:ext cx="3685680" cy="1009440"/>
          </a:xfrm>
          <a:prstGeom prst="rect">
            <a:avLst/>
          </a:prstGeom>
          <a:ln w="0">
            <a:noFill/>
          </a:ln>
        </p:spPr>
      </p:pic>
      <p:pic>
        <p:nvPicPr>
          <p:cNvPr id="44" name="Google Shape;91;p1" descr="Novartis Plans $3.9B Acquisition Of Advanced Accelerator Applications - Drug Discovery and Development"/>
          <p:cNvPicPr/>
          <p:nvPr/>
        </p:nvPicPr>
        <p:blipFill>
          <a:blip r:embed="rId3"/>
          <a:srcRect l="19159" t="8325" r="16470" b="8504"/>
          <a:stretch/>
        </p:blipFill>
        <p:spPr>
          <a:xfrm>
            <a:off x="9974160" y="9720"/>
            <a:ext cx="1901880" cy="1198800"/>
          </a:xfrm>
          <a:prstGeom prst="rect">
            <a:avLst/>
          </a:prstGeom>
          <a:ln w="0">
            <a:noFill/>
          </a:ln>
        </p:spPr>
      </p:pic>
      <p:sp>
        <p:nvSpPr>
          <p:cNvPr id="45" name="Google Shape;92;p1"/>
          <p:cNvSpPr/>
          <p:nvPr/>
        </p:nvSpPr>
        <p:spPr>
          <a:xfrm>
            <a:off x="7969760" y="5301208"/>
            <a:ext cx="3120480" cy="103536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Priyanka</a:t>
            </a:r>
            <a:r>
              <a:rPr lang="en-US" sz="13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US" sz="13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Yadav</a:t>
            </a:r>
            <a:r>
              <a:rPr lang="en-US" sz="9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                    </a:t>
            </a:r>
            <a:r>
              <a:rPr lang="en-US" sz="13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Mentor</a:t>
            </a:r>
            <a:endParaRPr lang="en-IN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Alupana</a:t>
            </a:r>
            <a:r>
              <a:rPr lang="en-US" sz="13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US" sz="13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Balaji</a:t>
            </a:r>
            <a:r>
              <a:rPr lang="en-US" sz="13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Reddy     Team Lead</a:t>
            </a:r>
            <a:endParaRPr lang="en-IN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Harish P S                      Team Member</a:t>
            </a:r>
            <a:endParaRPr lang="en-IN" sz="13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Sudhish</a:t>
            </a:r>
            <a:r>
              <a:rPr lang="en-US" sz="13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Gupta</a:t>
            </a:r>
            <a:r>
              <a:rPr lang="en-US" sz="9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                     </a:t>
            </a:r>
            <a:r>
              <a:rPr lang="en-US" sz="13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Team Member</a:t>
            </a:r>
            <a:endParaRPr lang="en-IN" sz="1300" b="0" strike="noStrike" spc="-1" dirty="0">
              <a:latin typeface="Arial"/>
            </a:endParaRPr>
          </a:p>
        </p:txBody>
      </p:sp>
      <p:sp>
        <p:nvSpPr>
          <p:cNvPr id="46" name="Google Shape;93;p1"/>
          <p:cNvSpPr/>
          <p:nvPr/>
        </p:nvSpPr>
        <p:spPr>
          <a:xfrm>
            <a:off x="613800" y="5209920"/>
            <a:ext cx="2710440" cy="100908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Challenge 1 </a:t>
            </a: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Topic :             Oncology</a:t>
            </a: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Dataset:         NCI-ALMANAC     </a:t>
            </a: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Target:           </a:t>
            </a:r>
            <a:r>
              <a:rPr lang="en-US" sz="1400" b="0" strike="noStrike" spc="-1" dirty="0" smtClean="0">
                <a:solidFill>
                  <a:srgbClr val="000000"/>
                </a:solidFill>
                <a:latin typeface="Calibri"/>
                <a:ea typeface="Calibri"/>
              </a:rPr>
              <a:t> COMBO_SCORE</a:t>
            </a:r>
            <a:endParaRPr lang="en-IN" sz="14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249;g3f72e609c93_0_146"/>
          <p:cNvSpPr/>
          <p:nvPr/>
        </p:nvSpPr>
        <p:spPr>
          <a:xfrm>
            <a:off x="258120" y="1684800"/>
            <a:ext cx="11801160" cy="1125720"/>
          </a:xfrm>
          <a:prstGeom prst="roundRect">
            <a:avLst>
              <a:gd name="adj" fmla="val 16667"/>
            </a:avLst>
          </a:prstGeom>
          <a:solidFill>
            <a:srgbClr val="FFFDFB"/>
          </a:solidFill>
          <a:ln w="9525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Google Shape;249;g3f72e609c93_0_146"/>
          <p:cNvSpPr/>
          <p:nvPr/>
        </p:nvSpPr>
        <p:spPr>
          <a:xfrm>
            <a:off x="258120" y="2919600"/>
            <a:ext cx="11801160" cy="3382560"/>
          </a:xfrm>
          <a:prstGeom prst="roundRect">
            <a:avLst>
              <a:gd name="adj" fmla="val 16667"/>
            </a:avLst>
          </a:prstGeom>
          <a:solidFill>
            <a:srgbClr val="FFFDFB"/>
          </a:solidFill>
          <a:ln w="9525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" name="Google Shape;208;g3f72e609c93_0_146"/>
          <p:cNvSpPr/>
          <p:nvPr/>
        </p:nvSpPr>
        <p:spPr>
          <a:xfrm>
            <a:off x="665640" y="3155760"/>
            <a:ext cx="1496160" cy="115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800">
            <a:solidFill>
              <a:srgbClr val="CDD7E1"/>
            </a:solidFill>
            <a:round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" name="Google Shape;209;g3f72e609c93_0_146"/>
          <p:cNvSpPr/>
          <p:nvPr/>
        </p:nvSpPr>
        <p:spPr>
          <a:xfrm>
            <a:off x="1064880" y="3250800"/>
            <a:ext cx="813600" cy="26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20" b="1" strike="noStrike" spc="-1">
                <a:solidFill>
                  <a:srgbClr val="182B44"/>
                </a:solidFill>
                <a:latin typeface="Arial"/>
                <a:ea typeface="Arial"/>
              </a:rPr>
              <a:t>Drug 1</a:t>
            </a:r>
            <a:endParaRPr lang="en-IN" sz="1220" b="0" strike="noStrike" spc="-1">
              <a:latin typeface="Arial"/>
            </a:endParaRPr>
          </a:p>
        </p:txBody>
      </p:sp>
      <p:sp>
        <p:nvSpPr>
          <p:cNvPr id="51" name="Google Shape;210;g3f72e609c93_0_146"/>
          <p:cNvSpPr/>
          <p:nvPr/>
        </p:nvSpPr>
        <p:spPr>
          <a:xfrm>
            <a:off x="727920" y="3575520"/>
            <a:ext cx="137196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70" b="0" strike="noStrike" spc="-1">
                <a:solidFill>
                  <a:srgbClr val="000000"/>
                </a:solidFill>
                <a:latin typeface="Arial"/>
                <a:ea typeface="Arial"/>
              </a:rPr>
              <a:t>Chemical structure</a:t>
            </a:r>
            <a:r>
              <a:rPr sz="1070"/>
              <a:t/>
            </a:r>
            <a:br>
              <a:rPr sz="1070"/>
            </a:br>
            <a:r>
              <a:rPr lang="en-US" sz="1070" b="0" strike="noStrike" spc="-1">
                <a:solidFill>
                  <a:srgbClr val="000000"/>
                </a:solidFill>
                <a:latin typeface="Arial"/>
                <a:ea typeface="Arial"/>
              </a:rPr>
              <a:t>/SMILES</a:t>
            </a:r>
            <a:endParaRPr lang="en-IN" sz="1070" b="0" strike="noStrike" spc="-1">
              <a:latin typeface="Arial"/>
            </a:endParaRPr>
          </a:p>
        </p:txBody>
      </p:sp>
      <p:sp>
        <p:nvSpPr>
          <p:cNvPr id="52" name="Google Shape;211;g3f72e609c93_0_146"/>
          <p:cNvSpPr/>
          <p:nvPr/>
        </p:nvSpPr>
        <p:spPr>
          <a:xfrm>
            <a:off x="2162160" y="3627000"/>
            <a:ext cx="3366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087"/>
          </a:solidFill>
          <a:ln w="0">
            <a:noFill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Google Shape;212;g3f72e609c93_0_146"/>
          <p:cNvSpPr/>
          <p:nvPr/>
        </p:nvSpPr>
        <p:spPr>
          <a:xfrm>
            <a:off x="665640" y="4651920"/>
            <a:ext cx="1496160" cy="115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800">
            <a:solidFill>
              <a:srgbClr val="CDD7E1"/>
            </a:solidFill>
            <a:round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" name="Google Shape;213;g3f72e609c93_0_146"/>
          <p:cNvSpPr/>
          <p:nvPr/>
        </p:nvSpPr>
        <p:spPr>
          <a:xfrm>
            <a:off x="1065600" y="4747320"/>
            <a:ext cx="813600" cy="26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20" b="1" strike="noStrike" spc="-1">
                <a:solidFill>
                  <a:srgbClr val="182B44"/>
                </a:solidFill>
                <a:latin typeface="Arial"/>
                <a:ea typeface="Arial"/>
              </a:rPr>
              <a:t>Drug 2</a:t>
            </a:r>
            <a:endParaRPr lang="en-IN" sz="1220" b="0" strike="noStrike" spc="-1">
              <a:latin typeface="Arial"/>
            </a:endParaRPr>
          </a:p>
        </p:txBody>
      </p:sp>
      <p:sp>
        <p:nvSpPr>
          <p:cNvPr id="55" name="Google Shape;214;g3f72e609c93_0_146"/>
          <p:cNvSpPr/>
          <p:nvPr/>
        </p:nvSpPr>
        <p:spPr>
          <a:xfrm>
            <a:off x="727920" y="5072040"/>
            <a:ext cx="137196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70" b="0" strike="noStrike" spc="-1">
                <a:solidFill>
                  <a:srgbClr val="000000"/>
                </a:solidFill>
                <a:latin typeface="Arial"/>
                <a:ea typeface="Arial"/>
              </a:rPr>
              <a:t>Chemical structure</a:t>
            </a:r>
            <a:r>
              <a:rPr sz="1070"/>
              <a:t/>
            </a:r>
            <a:br>
              <a:rPr sz="1070"/>
            </a:br>
            <a:r>
              <a:rPr lang="en-US" sz="1070" b="0" strike="noStrike" spc="-1">
                <a:solidFill>
                  <a:srgbClr val="000000"/>
                </a:solidFill>
                <a:latin typeface="Arial"/>
                <a:ea typeface="Arial"/>
              </a:rPr>
              <a:t>/SMILES</a:t>
            </a:r>
            <a:endParaRPr lang="en-IN" sz="1070" b="0" strike="noStrike" spc="-1">
              <a:latin typeface="Arial"/>
            </a:endParaRPr>
          </a:p>
        </p:txBody>
      </p:sp>
      <p:sp>
        <p:nvSpPr>
          <p:cNvPr id="56" name="Google Shape;215;g3f72e609c93_0_146"/>
          <p:cNvSpPr/>
          <p:nvPr/>
        </p:nvSpPr>
        <p:spPr>
          <a:xfrm>
            <a:off x="2162160" y="5123520"/>
            <a:ext cx="3366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8087"/>
          </a:solidFill>
          <a:ln w="0">
            <a:noFill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" name="Google Shape;216;g3f72e609c93_0_146"/>
          <p:cNvSpPr/>
          <p:nvPr/>
        </p:nvSpPr>
        <p:spPr>
          <a:xfrm>
            <a:off x="2487600" y="3825360"/>
            <a:ext cx="1496160" cy="1458720"/>
          </a:xfrm>
          <a:prstGeom prst="roundRect">
            <a:avLst>
              <a:gd name="adj" fmla="val 16667"/>
            </a:avLst>
          </a:prstGeom>
          <a:solidFill>
            <a:srgbClr val="EBF3F5"/>
          </a:solidFill>
          <a:ln w="7800">
            <a:solidFill>
              <a:srgbClr val="008087"/>
            </a:solidFill>
            <a:round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" name="Google Shape;217;g3f72e609c93_0_146"/>
          <p:cNvSpPr/>
          <p:nvPr/>
        </p:nvSpPr>
        <p:spPr>
          <a:xfrm>
            <a:off x="2938680" y="3980520"/>
            <a:ext cx="616320" cy="26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20" b="1" strike="noStrike" spc="-1">
                <a:solidFill>
                  <a:srgbClr val="182B44"/>
                </a:solidFill>
                <a:latin typeface="Arial"/>
                <a:ea typeface="Arial"/>
              </a:rPr>
              <a:t>RDKit</a:t>
            </a:r>
            <a:endParaRPr lang="en-IN" sz="1220" b="0" strike="noStrike" spc="-1">
              <a:latin typeface="Arial"/>
            </a:endParaRPr>
          </a:p>
        </p:txBody>
      </p:sp>
      <p:sp>
        <p:nvSpPr>
          <p:cNvPr id="59" name="Google Shape;218;g3f72e609c93_0_146"/>
          <p:cNvSpPr/>
          <p:nvPr/>
        </p:nvSpPr>
        <p:spPr>
          <a:xfrm>
            <a:off x="2747160" y="4359600"/>
            <a:ext cx="999720" cy="44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20" b="1" strike="noStrike" spc="-1">
                <a:solidFill>
                  <a:srgbClr val="008087"/>
                </a:solidFill>
                <a:latin typeface="Arial"/>
                <a:ea typeface="Arial"/>
              </a:rPr>
              <a:t>Molecular</a:t>
            </a:r>
            <a:r>
              <a:rPr sz="1220"/>
              <a:t/>
            </a:r>
            <a:br>
              <a:rPr sz="1220"/>
            </a:br>
            <a:r>
              <a:rPr lang="en-US" sz="1220" b="0" strike="noStrike" spc="-1">
                <a:solidFill>
                  <a:srgbClr val="000000"/>
                </a:solidFill>
                <a:latin typeface="Arial"/>
                <a:ea typeface="Arial"/>
              </a:rPr>
              <a:t>Descriptors</a:t>
            </a:r>
            <a:endParaRPr lang="en-IN" sz="1220" b="0" strike="noStrike" spc="-1">
              <a:latin typeface="Arial"/>
            </a:endParaRPr>
          </a:p>
        </p:txBody>
      </p:sp>
      <p:sp>
        <p:nvSpPr>
          <p:cNvPr id="60" name="Google Shape;219;g3f72e609c93_0_146"/>
          <p:cNvSpPr/>
          <p:nvPr/>
        </p:nvSpPr>
        <p:spPr>
          <a:xfrm>
            <a:off x="4309560" y="3125880"/>
            <a:ext cx="1608120" cy="1234080"/>
          </a:xfrm>
          <a:prstGeom prst="roundRect">
            <a:avLst>
              <a:gd name="adj" fmla="val 16667"/>
            </a:avLst>
          </a:prstGeom>
          <a:solidFill>
            <a:srgbClr val="EFF4FA"/>
          </a:solidFill>
          <a:ln w="7800">
            <a:solidFill>
              <a:srgbClr val="4369A0"/>
            </a:solidFill>
            <a:round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" name="Google Shape;220;g3f72e609c93_0_146"/>
          <p:cNvSpPr/>
          <p:nvPr/>
        </p:nvSpPr>
        <p:spPr>
          <a:xfrm>
            <a:off x="4444200" y="3238920"/>
            <a:ext cx="133128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70" b="1" strike="noStrike" spc="-1">
                <a:solidFill>
                  <a:srgbClr val="182B44"/>
                </a:solidFill>
                <a:latin typeface="Arial"/>
                <a:ea typeface="Arial"/>
              </a:rPr>
              <a:t>Drug 1 features</a:t>
            </a:r>
            <a:endParaRPr lang="en-IN" sz="1070" b="0" strike="noStrike" spc="-1">
              <a:latin typeface="Arial"/>
            </a:endParaRPr>
          </a:p>
        </p:txBody>
      </p:sp>
      <p:sp>
        <p:nvSpPr>
          <p:cNvPr id="62" name="Google Shape;221;g3f72e609c93_0_146"/>
          <p:cNvSpPr/>
          <p:nvPr/>
        </p:nvSpPr>
        <p:spPr>
          <a:xfrm>
            <a:off x="4404600" y="3624120"/>
            <a:ext cx="141120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70" b="0" strike="noStrike" spc="-1">
                <a:solidFill>
                  <a:srgbClr val="2A323C"/>
                </a:solidFill>
                <a:latin typeface="Arial"/>
                <a:ea typeface="Arial"/>
              </a:rPr>
              <a:t>MW • LogP • HBD</a:t>
            </a:r>
            <a:r>
              <a:rPr sz="1070"/>
              <a:t/>
            </a:r>
            <a:br>
              <a:rPr sz="1070"/>
            </a:br>
            <a:r>
              <a:rPr lang="en-US" sz="1070" b="0" strike="noStrike" spc="-1">
                <a:solidFill>
                  <a:srgbClr val="000000"/>
                </a:solidFill>
                <a:latin typeface="Arial"/>
                <a:ea typeface="Arial"/>
              </a:rPr>
              <a:t>HBA • topology • …</a:t>
            </a:r>
            <a:endParaRPr lang="en-IN" sz="1070" b="0" strike="noStrike" spc="-1">
              <a:latin typeface="Arial"/>
            </a:endParaRPr>
          </a:p>
        </p:txBody>
      </p:sp>
      <p:sp>
        <p:nvSpPr>
          <p:cNvPr id="63" name="Google Shape;222;g3f72e609c93_0_146"/>
          <p:cNvSpPr/>
          <p:nvPr/>
        </p:nvSpPr>
        <p:spPr>
          <a:xfrm>
            <a:off x="5948280" y="3597120"/>
            <a:ext cx="223920" cy="313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369A0"/>
          </a:solidFill>
          <a:ln w="0">
            <a:noFill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" name="Google Shape;223;g3f72e609c93_0_146"/>
          <p:cNvSpPr/>
          <p:nvPr/>
        </p:nvSpPr>
        <p:spPr>
          <a:xfrm>
            <a:off x="4309560" y="4651920"/>
            <a:ext cx="1608120" cy="1234080"/>
          </a:xfrm>
          <a:prstGeom prst="roundRect">
            <a:avLst>
              <a:gd name="adj" fmla="val 16667"/>
            </a:avLst>
          </a:prstGeom>
          <a:solidFill>
            <a:srgbClr val="EFF4FA"/>
          </a:solidFill>
          <a:ln w="7800">
            <a:solidFill>
              <a:srgbClr val="4369A0"/>
            </a:solidFill>
            <a:round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" name="Google Shape;224;g3f72e609c93_0_146"/>
          <p:cNvSpPr/>
          <p:nvPr/>
        </p:nvSpPr>
        <p:spPr>
          <a:xfrm>
            <a:off x="4444200" y="4765320"/>
            <a:ext cx="133128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70" b="1" strike="noStrike" spc="-1">
                <a:solidFill>
                  <a:srgbClr val="182B44"/>
                </a:solidFill>
                <a:latin typeface="Arial"/>
                <a:ea typeface="Arial"/>
              </a:rPr>
              <a:t>Drug 2 features</a:t>
            </a:r>
            <a:endParaRPr lang="en-IN" sz="1070" b="0" strike="noStrike" spc="-1">
              <a:latin typeface="Arial"/>
            </a:endParaRPr>
          </a:p>
        </p:txBody>
      </p:sp>
      <p:sp>
        <p:nvSpPr>
          <p:cNvPr id="66" name="Google Shape;225;g3f72e609c93_0_146"/>
          <p:cNvSpPr/>
          <p:nvPr/>
        </p:nvSpPr>
        <p:spPr>
          <a:xfrm>
            <a:off x="4404600" y="5150520"/>
            <a:ext cx="141120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70" b="0" strike="noStrike" spc="-1">
                <a:solidFill>
                  <a:srgbClr val="2A323C"/>
                </a:solidFill>
                <a:latin typeface="Arial"/>
                <a:ea typeface="Arial"/>
              </a:rPr>
              <a:t>MW • LogP • HBD</a:t>
            </a:r>
            <a:r>
              <a:rPr sz="1070"/>
              <a:t/>
            </a:r>
            <a:br>
              <a:rPr sz="1070"/>
            </a:br>
            <a:r>
              <a:rPr lang="en-US" sz="1070" b="0" strike="noStrike" spc="-1">
                <a:solidFill>
                  <a:srgbClr val="000000"/>
                </a:solidFill>
                <a:latin typeface="Arial"/>
                <a:ea typeface="Arial"/>
              </a:rPr>
              <a:t>HBA • topology • …</a:t>
            </a:r>
            <a:endParaRPr lang="en-IN" sz="1070" b="0" strike="noStrike" spc="-1">
              <a:latin typeface="Arial"/>
            </a:endParaRPr>
          </a:p>
        </p:txBody>
      </p:sp>
      <p:sp>
        <p:nvSpPr>
          <p:cNvPr id="67" name="Google Shape;226;g3f72e609c93_0_146"/>
          <p:cNvSpPr/>
          <p:nvPr/>
        </p:nvSpPr>
        <p:spPr>
          <a:xfrm>
            <a:off x="5963040" y="4966200"/>
            <a:ext cx="223920" cy="313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369A0"/>
          </a:solidFill>
          <a:ln w="0">
            <a:noFill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" name="Google Shape;227;g3f72e609c93_0_146"/>
          <p:cNvSpPr/>
          <p:nvPr/>
        </p:nvSpPr>
        <p:spPr>
          <a:xfrm>
            <a:off x="6206400" y="3535920"/>
            <a:ext cx="1533240" cy="1757880"/>
          </a:xfrm>
          <a:prstGeom prst="roundRect">
            <a:avLst>
              <a:gd name="adj" fmla="val 16667"/>
            </a:avLst>
          </a:prstGeom>
          <a:solidFill>
            <a:srgbClr val="FCF6E6"/>
          </a:solidFill>
          <a:ln w="7800">
            <a:solidFill>
              <a:srgbClr val="D29632"/>
            </a:solidFill>
            <a:round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" name="Google Shape;228;g3f72e609c93_0_146"/>
          <p:cNvSpPr/>
          <p:nvPr/>
        </p:nvSpPr>
        <p:spPr>
          <a:xfrm>
            <a:off x="6311880" y="3759840"/>
            <a:ext cx="1322280" cy="69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10" b="1" strike="noStrike" spc="-1">
                <a:solidFill>
                  <a:srgbClr val="182B44"/>
                </a:solidFill>
                <a:latin typeface="Arial"/>
                <a:ea typeface="Arial"/>
              </a:rPr>
              <a:t>Drug-pair</a:t>
            </a:r>
            <a:r>
              <a:rPr sz="1390"/>
              <a:t/>
            </a:r>
            <a:br>
              <a:rPr sz="1390"/>
            </a:br>
            <a:r>
              <a:rPr lang="en-US" sz="1390" b="0" strike="noStrike" spc="-1">
                <a:solidFill>
                  <a:srgbClr val="000000"/>
                </a:solidFill>
                <a:latin typeface="Calibri"/>
                <a:ea typeface="Calibri"/>
              </a:rPr>
              <a:t>Representation</a:t>
            </a:r>
            <a:endParaRPr lang="en-IN" sz="1390" b="0" strike="noStrike" spc="-1">
              <a:latin typeface="Arial"/>
            </a:endParaRPr>
          </a:p>
        </p:txBody>
      </p:sp>
      <p:sp>
        <p:nvSpPr>
          <p:cNvPr id="70" name="Google Shape;229;g3f72e609c93_0_146"/>
          <p:cNvSpPr/>
          <p:nvPr/>
        </p:nvSpPr>
        <p:spPr>
          <a:xfrm>
            <a:off x="6329880" y="4579200"/>
            <a:ext cx="1286640" cy="34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1" strike="noStrike" spc="-1">
                <a:solidFill>
                  <a:srgbClr val="2A323C"/>
                </a:solidFill>
                <a:latin typeface="Arial"/>
                <a:ea typeface="Arial"/>
              </a:rPr>
              <a:t>[A₁ … A₁₂ | B₁ … B₁₂]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71" name="Google Shape;238;g3f72e609c93_0_146"/>
          <p:cNvSpPr/>
          <p:nvPr/>
        </p:nvSpPr>
        <p:spPr>
          <a:xfrm>
            <a:off x="8304840" y="4025520"/>
            <a:ext cx="3628440" cy="428400"/>
          </a:xfrm>
          <a:prstGeom prst="roundRect">
            <a:avLst>
              <a:gd name="adj" fmla="val 16667"/>
            </a:avLst>
          </a:prstGeom>
          <a:solidFill>
            <a:srgbClr val="182B44"/>
          </a:solidFill>
          <a:ln w="7800">
            <a:solidFill>
              <a:srgbClr val="182B44"/>
            </a:solidFill>
            <a:round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" name="Google Shape;239;g3f72e609c93_0_146"/>
          <p:cNvSpPr/>
          <p:nvPr/>
        </p:nvSpPr>
        <p:spPr>
          <a:xfrm>
            <a:off x="8476560" y="4127400"/>
            <a:ext cx="3456720" cy="26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20" b="0" strike="noStrike" spc="-1">
                <a:solidFill>
                  <a:srgbClr val="FFFFFF"/>
                </a:solidFill>
                <a:latin typeface="Arial"/>
                <a:ea typeface="Arial"/>
              </a:rPr>
              <a:t>FINAL FEATURE VECTOR  →  ML MODEL</a:t>
            </a:r>
            <a:endParaRPr lang="en-IN" sz="1220" b="0" strike="noStrike" spc="-1">
              <a:latin typeface="Arial"/>
            </a:endParaRPr>
          </a:p>
        </p:txBody>
      </p:sp>
      <p:sp>
        <p:nvSpPr>
          <p:cNvPr id="73" name="Google Shape;241;g3f72e609c93_0_146"/>
          <p:cNvSpPr/>
          <p:nvPr/>
        </p:nvSpPr>
        <p:spPr>
          <a:xfrm>
            <a:off x="8806680" y="5166000"/>
            <a:ext cx="2506320" cy="411120"/>
          </a:xfrm>
          <a:prstGeom prst="roundRect">
            <a:avLst>
              <a:gd name="adj" fmla="val 16667"/>
            </a:avLst>
          </a:prstGeom>
          <a:solidFill>
            <a:srgbClr val="FCF6E6"/>
          </a:solidFill>
          <a:ln w="7800">
            <a:solidFill>
              <a:srgbClr val="D29632"/>
            </a:solidFill>
            <a:round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4" name="Google Shape;242;g3f72e609c93_0_146"/>
          <p:cNvSpPr/>
          <p:nvPr/>
        </p:nvSpPr>
        <p:spPr>
          <a:xfrm>
            <a:off x="9203400" y="5233680"/>
            <a:ext cx="1652760" cy="26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20" b="1" strike="noStrike" spc="-1">
                <a:solidFill>
                  <a:srgbClr val="182B44"/>
                </a:solidFill>
                <a:latin typeface="Arial"/>
                <a:ea typeface="Arial"/>
              </a:rPr>
              <a:t>  Predicted SCORE</a:t>
            </a:r>
            <a:endParaRPr lang="en-IN" sz="1220" b="0" strike="noStrike" spc="-1">
              <a:latin typeface="Arial"/>
            </a:endParaRPr>
          </a:p>
        </p:txBody>
      </p:sp>
      <p:sp>
        <p:nvSpPr>
          <p:cNvPr id="75" name="Google Shape;243;g3f72e609c93_0_146"/>
          <p:cNvSpPr/>
          <p:nvPr/>
        </p:nvSpPr>
        <p:spPr>
          <a:xfrm>
            <a:off x="502920" y="302400"/>
            <a:ext cx="1115532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strike="noStrike" spc="-1">
                <a:solidFill>
                  <a:srgbClr val="182B44"/>
                </a:solidFill>
                <a:latin typeface="Arial"/>
                <a:ea typeface="Arial"/>
              </a:rPr>
              <a:t>Molecular Features &amp; Feature Representation</a:t>
            </a:r>
            <a:endParaRPr lang="en-IN" sz="2700" b="0" strike="noStrike" spc="-1">
              <a:latin typeface="Arial"/>
            </a:endParaRPr>
          </a:p>
        </p:txBody>
      </p:sp>
      <p:sp>
        <p:nvSpPr>
          <p:cNvPr id="76" name="Google Shape;244;g3f72e609c93_0_146"/>
          <p:cNvSpPr/>
          <p:nvPr/>
        </p:nvSpPr>
        <p:spPr>
          <a:xfrm>
            <a:off x="502920" y="875880"/>
            <a:ext cx="11155320" cy="31680"/>
          </a:xfrm>
          <a:prstGeom prst="rect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" name="Google Shape;245;g3f72e609c93_0_146"/>
          <p:cNvSpPr/>
          <p:nvPr/>
        </p:nvSpPr>
        <p:spPr>
          <a:xfrm>
            <a:off x="530280" y="969120"/>
            <a:ext cx="1097244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0" b="0" strike="noStrike" spc="-1">
                <a:solidFill>
                  <a:srgbClr val="697380"/>
                </a:solidFill>
                <a:latin typeface="Arial"/>
                <a:ea typeface="Arial"/>
              </a:rPr>
              <a:t>Converting chemical structure and experimental context into an ML-ready representation</a:t>
            </a:r>
            <a:endParaRPr lang="en-IN" sz="1300" b="0" strike="noStrike" spc="-1">
              <a:latin typeface="Arial"/>
            </a:endParaRPr>
          </a:p>
        </p:txBody>
      </p:sp>
      <p:graphicFrame>
        <p:nvGraphicFramePr>
          <p:cNvPr id="78" name="Google Shape;247;g3f72e609c93_0_146"/>
          <p:cNvGraphicFramePr/>
          <p:nvPr/>
        </p:nvGraphicFramePr>
        <p:xfrm>
          <a:off x="3914640" y="1824480"/>
          <a:ext cx="7301520" cy="934920"/>
        </p:xfrm>
        <a:graphic>
          <a:graphicData uri="http://schemas.openxmlformats.org/drawingml/2006/table">
            <a:tbl>
              <a:tblPr/>
              <a:tblGrid>
                <a:gridCol w="1680480"/>
                <a:gridCol w="1077840"/>
                <a:gridCol w="1055880"/>
                <a:gridCol w="1333800"/>
                <a:gridCol w="2153520"/>
              </a:tblGrid>
              <a:tr h="3747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2.87M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5,242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107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0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Valid observations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Unique drugs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Drug pairs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Cancer cell lines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Model features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9" name="Google Shape;248;g3f72e609c93_0_146"/>
          <p:cNvSpPr/>
          <p:nvPr/>
        </p:nvSpPr>
        <p:spPr>
          <a:xfrm>
            <a:off x="1301040" y="1966680"/>
            <a:ext cx="2059200" cy="600480"/>
          </a:xfrm>
          <a:prstGeom prst="roundRect">
            <a:avLst>
              <a:gd name="adj" fmla="val 16667"/>
            </a:avLst>
          </a:prstGeom>
          <a:solidFill>
            <a:srgbClr val="CFD7E7"/>
          </a:solidFill>
          <a:ln w="9525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Calibri"/>
              </a:rPr>
              <a:t>Dataset </a:t>
            </a:r>
            <a:endParaRPr lang="en-IN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Calibri"/>
              </a:rPr>
              <a:t>NCI-ALMANAC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80" name="Google Shape;222;g3f72e609c93_0_146"/>
          <p:cNvSpPr/>
          <p:nvPr/>
        </p:nvSpPr>
        <p:spPr>
          <a:xfrm>
            <a:off x="7845480" y="4206600"/>
            <a:ext cx="223920" cy="3139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 w="0">
            <a:noFill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" name="Google Shape;222;g3f72e609c93_0_146"/>
          <p:cNvSpPr/>
          <p:nvPr/>
        </p:nvSpPr>
        <p:spPr>
          <a:xfrm rot="5400000">
            <a:off x="9948240" y="4798440"/>
            <a:ext cx="223920" cy="3139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 w="0">
            <a:noFill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Google Shape;203;p4"/>
          <p:cNvSpPr/>
          <p:nvPr/>
        </p:nvSpPr>
        <p:spPr>
          <a:xfrm>
            <a:off x="8304840" y="4501080"/>
            <a:ext cx="3628440" cy="456120"/>
          </a:xfrm>
          <a:prstGeom prst="rect">
            <a:avLst/>
          </a:prstGeom>
          <a:solidFill>
            <a:srgbClr val="F2F7F8"/>
          </a:solidFill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Calibri"/>
                <a:ea typeface="Calibri"/>
              </a:rPr>
              <a:t>trained ML model uses 107 input features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83" name="Google Shape;227;g3f72e609c93_0_146"/>
          <p:cNvSpPr/>
          <p:nvPr/>
        </p:nvSpPr>
        <p:spPr>
          <a:xfrm>
            <a:off x="8222400" y="3125880"/>
            <a:ext cx="1533240" cy="611640"/>
          </a:xfrm>
          <a:prstGeom prst="roundRect">
            <a:avLst>
              <a:gd name="adj" fmla="val 16667"/>
            </a:avLst>
          </a:prstGeom>
          <a:solidFill>
            <a:srgbClr val="FCF6E6"/>
          </a:solidFill>
          <a:ln w="7800">
            <a:solidFill>
              <a:srgbClr val="D29632"/>
            </a:solidFill>
            <a:round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" name="Google Shape;228;g3f72e609c93_0_146"/>
          <p:cNvSpPr/>
          <p:nvPr/>
        </p:nvSpPr>
        <p:spPr>
          <a:xfrm>
            <a:off x="8327880" y="3180240"/>
            <a:ext cx="1322280" cy="49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390" b="1" strike="noStrike" spc="-1">
                <a:solidFill>
                  <a:srgbClr val="000000"/>
                </a:solidFill>
                <a:latin typeface="Calibri"/>
                <a:ea typeface="Calibri"/>
              </a:rPr>
              <a:t>Biological Data</a:t>
            </a:r>
            <a:endParaRPr lang="en-IN" sz="1390" b="0" strike="noStrike" spc="-1">
              <a:latin typeface="Arial"/>
            </a:endParaRPr>
          </a:p>
        </p:txBody>
      </p:sp>
      <p:sp>
        <p:nvSpPr>
          <p:cNvPr id="85" name="Google Shape;227;g3f72e609c93_0_146"/>
          <p:cNvSpPr/>
          <p:nvPr/>
        </p:nvSpPr>
        <p:spPr>
          <a:xfrm>
            <a:off x="10006560" y="3113640"/>
            <a:ext cx="1533240" cy="611640"/>
          </a:xfrm>
          <a:prstGeom prst="roundRect">
            <a:avLst>
              <a:gd name="adj" fmla="val 16667"/>
            </a:avLst>
          </a:prstGeom>
          <a:solidFill>
            <a:srgbClr val="FCF6E6"/>
          </a:solidFill>
          <a:ln w="7800">
            <a:solidFill>
              <a:srgbClr val="D29632"/>
            </a:solidFill>
            <a:round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" name="Google Shape;228;g3f72e609c93_0_146"/>
          <p:cNvSpPr/>
          <p:nvPr/>
        </p:nvSpPr>
        <p:spPr>
          <a:xfrm>
            <a:off x="10112040" y="3168000"/>
            <a:ext cx="1322280" cy="49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4880" tIns="37440" rIns="74880" bIns="37440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390" b="1" strike="noStrike" spc="-1">
                <a:solidFill>
                  <a:srgbClr val="000000"/>
                </a:solidFill>
                <a:latin typeface="Calibri"/>
                <a:ea typeface="Calibri"/>
              </a:rPr>
              <a:t>Experimental Data</a:t>
            </a:r>
            <a:endParaRPr lang="en-IN" sz="1390" b="0" strike="noStrike" spc="-1">
              <a:latin typeface="Arial"/>
            </a:endParaRPr>
          </a:p>
        </p:txBody>
      </p:sp>
      <p:sp>
        <p:nvSpPr>
          <p:cNvPr id="87" name="Google Shape;222;g3f72e609c93_0_146"/>
          <p:cNvSpPr/>
          <p:nvPr/>
        </p:nvSpPr>
        <p:spPr>
          <a:xfrm rot="5400000">
            <a:off x="8877240" y="3701520"/>
            <a:ext cx="223920" cy="3139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 w="0">
            <a:noFill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Google Shape;222;g3f72e609c93_0_146"/>
          <p:cNvSpPr/>
          <p:nvPr/>
        </p:nvSpPr>
        <p:spPr>
          <a:xfrm rot="5400000">
            <a:off x="10735920" y="3691080"/>
            <a:ext cx="223920" cy="3139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 w="0">
            <a:noFill/>
          </a:ln>
          <a:effectLst>
            <a:outerShdw blurRad="32760" dist="1872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344;g3f72e609c93_0_52"/>
          <p:cNvSpPr/>
          <p:nvPr/>
        </p:nvSpPr>
        <p:spPr>
          <a:xfrm>
            <a:off x="406080" y="1252080"/>
            <a:ext cx="2075400" cy="1990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" name="Google Shape;345;g3f72e609c93_0_52"/>
          <p:cNvSpPr/>
          <p:nvPr/>
        </p:nvSpPr>
        <p:spPr>
          <a:xfrm>
            <a:off x="682560" y="1316520"/>
            <a:ext cx="420120" cy="420120"/>
          </a:xfrm>
          <a:prstGeom prst="ellipse">
            <a:avLst/>
          </a:prstGeom>
          <a:solidFill>
            <a:srgbClr val="4369A0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" name="Google Shape;346;g3f72e609c93_0_52"/>
          <p:cNvSpPr/>
          <p:nvPr/>
        </p:nvSpPr>
        <p:spPr>
          <a:xfrm>
            <a:off x="672120" y="1380960"/>
            <a:ext cx="420120" cy="25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92" name="Google Shape;347;g3f72e609c93_0_52"/>
          <p:cNvSpPr/>
          <p:nvPr/>
        </p:nvSpPr>
        <p:spPr>
          <a:xfrm>
            <a:off x="882720" y="1389600"/>
            <a:ext cx="121968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82B44"/>
                </a:solidFill>
                <a:latin typeface="Arial"/>
                <a:ea typeface="Arial"/>
              </a:rPr>
              <a:t>Dataset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93" name="Google Shape;348;g3f72e609c93_0_52"/>
          <p:cNvSpPr/>
          <p:nvPr/>
        </p:nvSpPr>
        <p:spPr>
          <a:xfrm>
            <a:off x="634680" y="1794240"/>
            <a:ext cx="1554120" cy="22320"/>
          </a:xfrm>
          <a:prstGeom prst="rect">
            <a:avLst/>
          </a:prstGeom>
          <a:solidFill>
            <a:srgbClr val="4369A0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Google Shape;349;g3f72e609c93_0_52"/>
          <p:cNvSpPr/>
          <p:nvPr/>
        </p:nvSpPr>
        <p:spPr>
          <a:xfrm>
            <a:off x="476280" y="1929600"/>
            <a:ext cx="2023560" cy="91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A323C"/>
                </a:solidFill>
                <a:latin typeface="Arial"/>
                <a:ea typeface="Arial"/>
              </a:rPr>
              <a:t>NCI-ALMANAC</a:t>
            </a:r>
            <a:endParaRPr lang="en-IN" sz="1200" b="0" strike="noStrike" spc="-1">
              <a:latin typeface="Arial"/>
            </a:endParaRPr>
          </a:p>
          <a:p>
            <a:pPr marL="285840" indent="-260280">
              <a:lnSpc>
                <a:spcPct val="150000"/>
              </a:lnSpc>
              <a:buClr>
                <a:srgbClr val="000000"/>
              </a:buClr>
              <a:buFont typeface="Noto Sans Symbols"/>
              <a:buChar char="✔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Clean </a:t>
            </a:r>
            <a:endParaRPr lang="en-IN" sz="1200" b="0" strike="noStrike" spc="-1">
              <a:latin typeface="Arial"/>
            </a:endParaRPr>
          </a:p>
          <a:p>
            <a:pPr marL="285840" indent="-260280">
              <a:lnSpc>
                <a:spcPct val="150000"/>
              </a:lnSpc>
              <a:buClr>
                <a:srgbClr val="000000"/>
              </a:buClr>
              <a:buFont typeface="Noto Sans Symbols"/>
              <a:buChar char="✔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Preprocess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95" name="Google Shape;350;g3f72e609c93_0_52"/>
          <p:cNvSpPr/>
          <p:nvPr/>
        </p:nvSpPr>
        <p:spPr>
          <a:xfrm>
            <a:off x="2728440" y="1252080"/>
            <a:ext cx="2075400" cy="1990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6" name="Google Shape;351;g3f72e609c93_0_52"/>
          <p:cNvSpPr/>
          <p:nvPr/>
        </p:nvSpPr>
        <p:spPr>
          <a:xfrm>
            <a:off x="2838240" y="1316520"/>
            <a:ext cx="420120" cy="420120"/>
          </a:xfrm>
          <a:prstGeom prst="ellipse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7" name="Google Shape;352;g3f72e609c93_0_52"/>
          <p:cNvSpPr/>
          <p:nvPr/>
        </p:nvSpPr>
        <p:spPr>
          <a:xfrm>
            <a:off x="2838240" y="1377720"/>
            <a:ext cx="420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98" name="Google Shape;353;g3f72e609c93_0_52"/>
          <p:cNvSpPr/>
          <p:nvPr/>
        </p:nvSpPr>
        <p:spPr>
          <a:xfrm>
            <a:off x="3285360" y="1393920"/>
            <a:ext cx="103896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Arial"/>
                <a:ea typeface="Arial"/>
              </a:rPr>
              <a:t>Features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99" name="Google Shape;354;g3f72e609c93_0_52"/>
          <p:cNvSpPr/>
          <p:nvPr/>
        </p:nvSpPr>
        <p:spPr>
          <a:xfrm>
            <a:off x="2925360" y="1794240"/>
            <a:ext cx="1554120" cy="22320"/>
          </a:xfrm>
          <a:prstGeom prst="rect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0" name="Google Shape;355;g3f72e609c93_0_52"/>
          <p:cNvSpPr/>
          <p:nvPr/>
        </p:nvSpPr>
        <p:spPr>
          <a:xfrm>
            <a:off x="2828520" y="1942200"/>
            <a:ext cx="1874160" cy="12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A323C"/>
                </a:solidFill>
                <a:latin typeface="Arial"/>
                <a:ea typeface="Arial"/>
              </a:rPr>
              <a:t>RDKit descriptors:</a:t>
            </a:r>
            <a:r>
              <a:rPr sz="600"/>
              <a:t/>
            </a:r>
            <a:br>
              <a:rPr sz="600"/>
            </a:br>
            <a:endParaRPr lang="en-IN" sz="1200" b="0" strike="noStrike" spc="-1">
              <a:latin typeface="Arial"/>
            </a:endParaRPr>
          </a:p>
          <a:p>
            <a:pPr marL="285840" indent="-272880">
              <a:lnSpc>
                <a:spcPct val="115000"/>
              </a:lnSpc>
              <a:buClr>
                <a:srgbClr val="000000"/>
              </a:buClr>
              <a:buFont typeface="Noto Sans Symbols"/>
              <a:buChar char="✔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Drug-pair + </a:t>
            </a:r>
            <a:endParaRPr lang="en-IN" sz="1200" b="0" strike="noStrike" spc="-1">
              <a:latin typeface="Arial"/>
            </a:endParaRPr>
          </a:p>
          <a:p>
            <a:pPr marL="285840" indent="-272880">
              <a:lnSpc>
                <a:spcPct val="115000"/>
              </a:lnSpc>
              <a:buClr>
                <a:srgbClr val="000000"/>
              </a:buClr>
              <a:buFont typeface="Noto Sans Symbols"/>
              <a:buChar char="✔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biological + </a:t>
            </a:r>
            <a:endParaRPr lang="en-IN" sz="1200" b="0" strike="noStrike" spc="-1">
              <a:latin typeface="Arial"/>
            </a:endParaRPr>
          </a:p>
          <a:p>
            <a:pPr marL="285840" indent="-272880">
              <a:lnSpc>
                <a:spcPct val="115000"/>
              </a:lnSpc>
              <a:buClr>
                <a:srgbClr val="000000"/>
              </a:buClr>
              <a:buFont typeface="Noto Sans Symbols"/>
              <a:buChar char="✔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experimental </a:t>
            </a:r>
            <a:endParaRPr lang="en-IN" sz="1200" b="0" strike="noStrike" spc="-1">
              <a:latin typeface="Arial"/>
            </a:endParaRPr>
          </a:p>
          <a:p>
            <a:pPr marL="285840" indent="-272880">
              <a:lnSpc>
                <a:spcPct val="115000"/>
              </a:lnSpc>
              <a:buClr>
                <a:srgbClr val="000000"/>
              </a:buClr>
              <a:buFont typeface="Noto Sans Symbols"/>
              <a:buChar char="✔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features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01" name="Google Shape;356;g3f72e609c93_0_52"/>
          <p:cNvSpPr/>
          <p:nvPr/>
        </p:nvSpPr>
        <p:spPr>
          <a:xfrm>
            <a:off x="5051160" y="1252080"/>
            <a:ext cx="2075400" cy="1990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2" name="Google Shape;357;g3f72e609c93_0_52"/>
          <p:cNvSpPr/>
          <p:nvPr/>
        </p:nvSpPr>
        <p:spPr>
          <a:xfrm>
            <a:off x="5160960" y="1337400"/>
            <a:ext cx="420120" cy="420120"/>
          </a:xfrm>
          <a:prstGeom prst="ellipse">
            <a:avLst/>
          </a:prstGeom>
          <a:solidFill>
            <a:srgbClr val="D29632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3" name="Google Shape;358;g3f72e609c93_0_52"/>
          <p:cNvSpPr/>
          <p:nvPr/>
        </p:nvSpPr>
        <p:spPr>
          <a:xfrm>
            <a:off x="5160960" y="1419480"/>
            <a:ext cx="420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04" name="Google Shape;359;g3f72e609c93_0_52"/>
          <p:cNvSpPr/>
          <p:nvPr/>
        </p:nvSpPr>
        <p:spPr>
          <a:xfrm>
            <a:off x="5590080" y="1419120"/>
            <a:ext cx="118764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82B44"/>
                </a:solidFill>
                <a:latin typeface="Arial"/>
                <a:ea typeface="Arial"/>
              </a:rPr>
              <a:t>Prediction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05" name="Google Shape;360;g3f72e609c93_0_52"/>
          <p:cNvSpPr/>
          <p:nvPr/>
        </p:nvSpPr>
        <p:spPr>
          <a:xfrm>
            <a:off x="5298120" y="1810080"/>
            <a:ext cx="1554120" cy="22320"/>
          </a:xfrm>
          <a:prstGeom prst="rect">
            <a:avLst/>
          </a:prstGeom>
          <a:solidFill>
            <a:srgbClr val="D29632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6" name="Google Shape;361;g3f72e609c93_0_52"/>
          <p:cNvSpPr/>
          <p:nvPr/>
        </p:nvSpPr>
        <p:spPr>
          <a:xfrm>
            <a:off x="5234040" y="1955160"/>
            <a:ext cx="1911600" cy="118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2A323C"/>
                </a:solidFill>
                <a:latin typeface="Arial"/>
                <a:ea typeface="Arial"/>
              </a:rPr>
              <a:t>ML models   </a:t>
            </a:r>
            <a:r>
              <a:rPr lang="en-US" sz="1200" b="1" strike="noStrike" spc="-1">
                <a:solidFill>
                  <a:srgbClr val="000000"/>
                </a:solidFill>
                <a:latin typeface="Arial"/>
                <a:ea typeface="Arial"/>
              </a:rPr>
              <a:t>Reproducible</a:t>
            </a:r>
            <a:endParaRPr lang="en-IN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n-IN" sz="1200" b="0" strike="noStrike" spc="-1">
              <a:latin typeface="Arial"/>
            </a:endParaRPr>
          </a:p>
          <a:p>
            <a:pPr marL="285840" indent="-272880">
              <a:lnSpc>
                <a:spcPct val="100000"/>
              </a:lnSpc>
              <a:buClr>
                <a:srgbClr val="000000"/>
              </a:buClr>
              <a:buFont typeface="Noto Sans Symbols"/>
              <a:buChar char="✔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 Train</a:t>
            </a:r>
            <a:endParaRPr lang="en-IN" sz="1200" b="0" strike="noStrike" spc="-1">
              <a:latin typeface="Arial"/>
            </a:endParaRPr>
          </a:p>
          <a:p>
            <a:pPr marL="285840" indent="-272880">
              <a:lnSpc>
                <a:spcPct val="100000"/>
              </a:lnSpc>
              <a:buClr>
                <a:srgbClr val="000000"/>
              </a:buClr>
              <a:buFont typeface="Noto Sans Symbols"/>
              <a:buChar char="✔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Validation</a:t>
            </a:r>
            <a:endParaRPr lang="en-IN" sz="1200" b="0" strike="noStrike" spc="-1">
              <a:latin typeface="Arial"/>
            </a:endParaRPr>
          </a:p>
          <a:p>
            <a:pPr marL="285840" indent="-272880">
              <a:lnSpc>
                <a:spcPct val="100000"/>
              </a:lnSpc>
              <a:buClr>
                <a:srgbClr val="000000"/>
              </a:buClr>
              <a:buFont typeface="Noto Sans Symbols"/>
              <a:buChar char="✔"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Test splits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07" name="Google Shape;362;g3f72e609c93_0_52"/>
          <p:cNvSpPr/>
          <p:nvPr/>
        </p:nvSpPr>
        <p:spPr>
          <a:xfrm>
            <a:off x="7373520" y="1252080"/>
            <a:ext cx="2075400" cy="1990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8" name="Google Shape;363;g3f72e609c93_0_52"/>
          <p:cNvSpPr/>
          <p:nvPr/>
        </p:nvSpPr>
        <p:spPr>
          <a:xfrm>
            <a:off x="7504200" y="1337400"/>
            <a:ext cx="420120" cy="420120"/>
          </a:xfrm>
          <a:prstGeom prst="ellipse">
            <a:avLst/>
          </a:prstGeom>
          <a:solidFill>
            <a:srgbClr val="4369A0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9" name="Google Shape;364;g3f72e609c93_0_52"/>
          <p:cNvSpPr/>
          <p:nvPr/>
        </p:nvSpPr>
        <p:spPr>
          <a:xfrm>
            <a:off x="7483320" y="1398600"/>
            <a:ext cx="420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10" name="Google Shape;365;g3f72e609c93_0_52"/>
          <p:cNvSpPr/>
          <p:nvPr/>
        </p:nvSpPr>
        <p:spPr>
          <a:xfrm>
            <a:off x="7885800" y="1411560"/>
            <a:ext cx="121968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82B44"/>
                </a:solidFill>
                <a:latin typeface="Arial"/>
                <a:ea typeface="Arial"/>
              </a:rPr>
              <a:t>Evaluation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11" name="Google Shape;366;g3f72e609c93_0_52"/>
          <p:cNvSpPr/>
          <p:nvPr/>
        </p:nvSpPr>
        <p:spPr>
          <a:xfrm>
            <a:off x="7578000" y="1820880"/>
            <a:ext cx="1554120" cy="22320"/>
          </a:xfrm>
          <a:prstGeom prst="rect">
            <a:avLst/>
          </a:prstGeom>
          <a:solidFill>
            <a:srgbClr val="4369A0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2" name="Google Shape;367;g3f72e609c93_0_52"/>
          <p:cNvSpPr/>
          <p:nvPr/>
        </p:nvSpPr>
        <p:spPr>
          <a:xfrm>
            <a:off x="7454520" y="1938960"/>
            <a:ext cx="1904760" cy="118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marL="285840" indent="-272880">
              <a:lnSpc>
                <a:spcPct val="150000"/>
              </a:lnSpc>
              <a:buClr>
                <a:srgbClr val="000000"/>
              </a:buClr>
              <a:buFont typeface="Noto Sans Symbols"/>
              <a:buChar char="✔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Random split</a:t>
            </a:r>
            <a:endParaRPr lang="en-IN" sz="1200" b="0" strike="noStrike" spc="-1">
              <a:latin typeface="Arial"/>
            </a:endParaRPr>
          </a:p>
          <a:p>
            <a:pPr marL="285840" indent="-272880">
              <a:lnSpc>
                <a:spcPct val="150000"/>
              </a:lnSpc>
              <a:buClr>
                <a:srgbClr val="000000"/>
              </a:buClr>
              <a:buFont typeface="Noto Sans Symbols"/>
              <a:buChar char="✔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Cold combination </a:t>
            </a:r>
            <a:endParaRPr lang="en-IN" sz="1200" b="0" strike="noStrike" spc="-1">
              <a:latin typeface="Arial"/>
            </a:endParaRPr>
          </a:p>
          <a:p>
            <a:pPr marL="285840" indent="-272880">
              <a:lnSpc>
                <a:spcPct val="150000"/>
              </a:lnSpc>
              <a:buClr>
                <a:srgbClr val="000000"/>
              </a:buClr>
              <a:buFont typeface="Noto Sans Symbols"/>
              <a:buChar char="✔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Cold cell line </a:t>
            </a:r>
            <a:endParaRPr lang="en-IN" sz="1200" b="0" strike="noStrike" spc="-1">
              <a:latin typeface="Arial"/>
            </a:endParaRPr>
          </a:p>
          <a:p>
            <a:pPr marL="285840" indent="-272880">
              <a:lnSpc>
                <a:spcPct val="150000"/>
              </a:lnSpc>
              <a:buClr>
                <a:srgbClr val="000000"/>
              </a:buClr>
              <a:buFont typeface="Noto Sans Symbols"/>
              <a:buChar char="✔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Cold drug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13" name="Google Shape;368;g3f72e609c93_0_52"/>
          <p:cNvSpPr/>
          <p:nvPr/>
        </p:nvSpPr>
        <p:spPr>
          <a:xfrm>
            <a:off x="9696240" y="1252080"/>
            <a:ext cx="2075400" cy="1990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7DE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4" name="Google Shape;369;g3f72e609c93_0_52"/>
          <p:cNvSpPr/>
          <p:nvPr/>
        </p:nvSpPr>
        <p:spPr>
          <a:xfrm>
            <a:off x="9816480" y="1326960"/>
            <a:ext cx="420120" cy="420120"/>
          </a:xfrm>
          <a:prstGeom prst="ellipse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5" name="Google Shape;370;g3f72e609c93_0_52"/>
          <p:cNvSpPr/>
          <p:nvPr/>
        </p:nvSpPr>
        <p:spPr>
          <a:xfrm>
            <a:off x="9816480" y="1377720"/>
            <a:ext cx="4201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16" name="Google Shape;371;g3f72e609c93_0_52"/>
          <p:cNvSpPr/>
          <p:nvPr/>
        </p:nvSpPr>
        <p:spPr>
          <a:xfrm>
            <a:off x="10231560" y="1395000"/>
            <a:ext cx="126432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1" strike="noStrike" spc="-1">
                <a:solidFill>
                  <a:srgbClr val="182B44"/>
                </a:solidFill>
                <a:latin typeface="Arial"/>
                <a:ea typeface="Arial"/>
              </a:rPr>
              <a:t>Explainability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17" name="Google Shape;372;g3f72e609c93_0_52"/>
          <p:cNvSpPr/>
          <p:nvPr/>
        </p:nvSpPr>
        <p:spPr>
          <a:xfrm>
            <a:off x="9858240" y="1833480"/>
            <a:ext cx="1554120" cy="22320"/>
          </a:xfrm>
          <a:prstGeom prst="rect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8" name="Google Shape;373;g3f72e609c93_0_52"/>
          <p:cNvSpPr/>
          <p:nvPr/>
        </p:nvSpPr>
        <p:spPr>
          <a:xfrm>
            <a:off x="9698040" y="2040840"/>
            <a:ext cx="20754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marL="285840" indent="-272880" algn="ctr">
              <a:lnSpc>
                <a:spcPct val="100000"/>
              </a:lnSpc>
              <a:buClr>
                <a:srgbClr val="000000"/>
              </a:buClr>
              <a:buFont typeface="Noto Sans Symbols"/>
              <a:buChar char="✔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Feature importance</a:t>
            </a:r>
            <a:r>
              <a:rPr sz="1200"/>
              <a:t/>
            </a:r>
            <a:br>
              <a:rPr sz="1200"/>
            </a:b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SHAP</a:t>
            </a:r>
            <a:endParaRPr lang="en-IN" sz="1200" b="0" strike="noStrike" spc="-1">
              <a:latin typeface="Arial"/>
            </a:endParaRPr>
          </a:p>
          <a:p>
            <a:pPr marL="285840" indent="-272880" algn="ctr">
              <a:lnSpc>
                <a:spcPct val="100000"/>
              </a:lnSpc>
              <a:buClr>
                <a:srgbClr val="000000"/>
              </a:buClr>
              <a:buFont typeface="Noto Sans Symbols"/>
              <a:buChar char="✔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 Training-data effect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119" name="Google Shape;374;g3f72e609c93_0_52"/>
          <p:cNvSpPr/>
          <p:nvPr/>
        </p:nvSpPr>
        <p:spPr>
          <a:xfrm>
            <a:off x="2525400" y="2195280"/>
            <a:ext cx="177120" cy="366840"/>
          </a:xfrm>
          <a:prstGeom prst="chevron">
            <a:avLst>
              <a:gd name="adj" fmla="val 50000"/>
            </a:avLst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0" name="Google Shape;375;g3f72e609c93_0_52"/>
          <p:cNvSpPr/>
          <p:nvPr/>
        </p:nvSpPr>
        <p:spPr>
          <a:xfrm>
            <a:off x="4828680" y="2216880"/>
            <a:ext cx="177120" cy="366840"/>
          </a:xfrm>
          <a:prstGeom prst="chevron">
            <a:avLst>
              <a:gd name="adj" fmla="val 50000"/>
            </a:avLst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1" name="Google Shape;376;g3f72e609c93_0_52"/>
          <p:cNvSpPr/>
          <p:nvPr/>
        </p:nvSpPr>
        <p:spPr>
          <a:xfrm>
            <a:off x="7151400" y="2218680"/>
            <a:ext cx="177120" cy="366840"/>
          </a:xfrm>
          <a:prstGeom prst="chevron">
            <a:avLst>
              <a:gd name="adj" fmla="val 50000"/>
            </a:avLst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2" name="Google Shape;377;g3f72e609c93_0_52"/>
          <p:cNvSpPr/>
          <p:nvPr/>
        </p:nvSpPr>
        <p:spPr>
          <a:xfrm>
            <a:off x="9484920" y="2229840"/>
            <a:ext cx="177120" cy="366840"/>
          </a:xfrm>
          <a:prstGeom prst="chevron">
            <a:avLst>
              <a:gd name="adj" fmla="val 50000"/>
            </a:avLst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Google Shape;254;p3"/>
          <p:cNvSpPr/>
          <p:nvPr/>
        </p:nvSpPr>
        <p:spPr>
          <a:xfrm>
            <a:off x="502920" y="75960"/>
            <a:ext cx="74062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strike="noStrike" spc="-1">
                <a:solidFill>
                  <a:srgbClr val="182B44"/>
                </a:solidFill>
                <a:latin typeface="Arial"/>
                <a:ea typeface="Arial"/>
              </a:rPr>
              <a:t>Objectives - From data to reliable prediction</a:t>
            </a:r>
            <a:endParaRPr lang="en-IN" sz="2700" b="0" strike="noStrike" spc="-1">
              <a:latin typeface="Arial"/>
            </a:endParaRPr>
          </a:p>
        </p:txBody>
      </p:sp>
      <p:sp>
        <p:nvSpPr>
          <p:cNvPr id="124" name="Google Shape;255;p3"/>
          <p:cNvSpPr/>
          <p:nvPr/>
        </p:nvSpPr>
        <p:spPr>
          <a:xfrm>
            <a:off x="502920" y="749880"/>
            <a:ext cx="11155320" cy="31680"/>
          </a:xfrm>
          <a:prstGeom prst="rect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Google Shape;256;p3"/>
          <p:cNvSpPr/>
          <p:nvPr/>
        </p:nvSpPr>
        <p:spPr>
          <a:xfrm>
            <a:off x="530280" y="902520"/>
            <a:ext cx="73080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 reproducible workflow for predicting and evaluating drug-combination activity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126" name="Google Shape;393;g3f72e609c93_0_25"/>
          <p:cNvSpPr/>
          <p:nvPr/>
        </p:nvSpPr>
        <p:spPr>
          <a:xfrm>
            <a:off x="502920" y="3023280"/>
            <a:ext cx="1097244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Arial"/>
                <a:ea typeface="Arial"/>
              </a:rPr>
              <a:t>Evaluation Design</a:t>
            </a:r>
            <a:endParaRPr lang="en-IN" sz="2300" b="0" strike="noStrike" spc="-1">
              <a:latin typeface="Arial"/>
            </a:endParaRPr>
          </a:p>
        </p:txBody>
      </p:sp>
      <p:sp>
        <p:nvSpPr>
          <p:cNvPr id="127" name="Google Shape;395;g3f72e609c93_0_25"/>
          <p:cNvSpPr/>
          <p:nvPr/>
        </p:nvSpPr>
        <p:spPr>
          <a:xfrm>
            <a:off x="502920" y="3822120"/>
            <a:ext cx="11155320" cy="31680"/>
          </a:xfrm>
          <a:prstGeom prst="rect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8" name="Google Shape;394;g3f72e609c93_0_25"/>
          <p:cNvSpPr/>
          <p:nvPr/>
        </p:nvSpPr>
        <p:spPr>
          <a:xfrm>
            <a:off x="502920" y="3912120"/>
            <a:ext cx="2509200" cy="1244880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 w="9525">
            <a:solidFill>
              <a:srgbClr val="00828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IN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n-IN" sz="1400" b="0" strike="noStrike" spc="-1">
              <a:latin typeface="Arial"/>
            </a:endParaRPr>
          </a:p>
        </p:txBody>
      </p:sp>
      <p:sp>
        <p:nvSpPr>
          <p:cNvPr id="129" name="Google Shape;396;g3f72e609c93_0_25"/>
          <p:cNvSpPr/>
          <p:nvPr/>
        </p:nvSpPr>
        <p:spPr>
          <a:xfrm>
            <a:off x="3460320" y="3912120"/>
            <a:ext cx="2509200" cy="1263960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 w="9525">
            <a:solidFill>
              <a:srgbClr val="00828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IN" sz="11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IN" sz="1100" b="0" strike="noStrike" spc="-1">
              <a:latin typeface="Arial"/>
            </a:endParaRPr>
          </a:p>
        </p:txBody>
      </p:sp>
      <p:sp>
        <p:nvSpPr>
          <p:cNvPr id="130" name="Google Shape;397;g3f72e609c93_0_25"/>
          <p:cNvSpPr/>
          <p:nvPr/>
        </p:nvSpPr>
        <p:spPr>
          <a:xfrm>
            <a:off x="6316920" y="3928320"/>
            <a:ext cx="2374200" cy="1247760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 w="9525">
            <a:solidFill>
              <a:srgbClr val="00828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1" name="Google Shape;398;g3f72e609c93_0_25"/>
          <p:cNvSpPr/>
          <p:nvPr/>
        </p:nvSpPr>
        <p:spPr>
          <a:xfrm>
            <a:off x="8866440" y="3912120"/>
            <a:ext cx="2831760" cy="1263960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 w="9525">
            <a:solidFill>
              <a:srgbClr val="00828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2" name="TextBox 29"/>
          <p:cNvSpPr/>
          <p:nvPr/>
        </p:nvSpPr>
        <p:spPr>
          <a:xfrm>
            <a:off x="502920" y="4074120"/>
            <a:ext cx="2422080" cy="99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39680"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1. RANDOM </a:t>
            </a:r>
            <a:endParaRPr lang="en-IN" sz="1400" b="0" strike="noStrike" spc="-1">
              <a:latin typeface="Arial"/>
            </a:endParaRPr>
          </a:p>
          <a:p>
            <a:pPr marL="139680">
              <a:lnSpc>
                <a:spcPct val="115000"/>
              </a:lnSpc>
              <a:spcBef>
                <a:spcPts val="1199"/>
              </a:spcBef>
              <a:buNone/>
            </a:pPr>
            <a:r>
              <a:rPr lang="en-US" sz="1100" b="1" strike="noStrike" spc="-1">
                <a:solidFill>
                  <a:srgbClr val="000000"/>
                </a:solidFill>
                <a:latin typeface="Arial"/>
                <a:ea typeface="Arial"/>
              </a:rPr>
              <a:t>Baseline</a:t>
            </a:r>
            <a:endParaRPr lang="en-IN" sz="1100" b="0" strike="noStrike" spc="-1">
              <a:latin typeface="Arial"/>
            </a:endParaRPr>
          </a:p>
          <a:p>
            <a:pPr marL="139680">
              <a:lnSpc>
                <a:spcPct val="115000"/>
              </a:lnSpc>
              <a:spcBef>
                <a:spcPts val="1199"/>
              </a:spcBef>
              <a:buNone/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  <a:ea typeface="Arial"/>
              </a:rPr>
              <a:t>Seen distribution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133" name="TextBox 31"/>
          <p:cNvSpPr/>
          <p:nvPr/>
        </p:nvSpPr>
        <p:spPr>
          <a:xfrm>
            <a:off x="3595320" y="4027680"/>
            <a:ext cx="2374200" cy="102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2)  COLD-COMBINATION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Arial"/>
                <a:ea typeface="Arial"/>
              </a:rPr>
              <a:t>Main task</a:t>
            </a:r>
            <a:endParaRPr lang="en-IN" sz="11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  <a:ea typeface="Arial"/>
              </a:rPr>
              <a:t>Drug pair absent from training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134" name="TextBox 33"/>
          <p:cNvSpPr/>
          <p:nvPr/>
        </p:nvSpPr>
        <p:spPr>
          <a:xfrm>
            <a:off x="6491880" y="4057200"/>
            <a:ext cx="2282760" cy="102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3) COLD-CELL-LINE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Arial"/>
                <a:ea typeface="Arial"/>
              </a:rPr>
              <a:t>Biological transfer</a:t>
            </a:r>
            <a:endParaRPr lang="en-IN" sz="11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  <a:ea typeface="Arial"/>
              </a:rPr>
              <a:t>Cell line absent from training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135" name="TextBox 35"/>
          <p:cNvSpPr/>
          <p:nvPr/>
        </p:nvSpPr>
        <p:spPr>
          <a:xfrm>
            <a:off x="8949960" y="4065840"/>
            <a:ext cx="2754720" cy="100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000000"/>
                </a:solidFill>
                <a:latin typeface="Arial"/>
                <a:ea typeface="Arial"/>
              </a:rPr>
              <a:t>4) COLD-DRUG</a:t>
            </a:r>
            <a:endParaRPr lang="en-IN" sz="13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Arial"/>
                <a:ea typeface="Arial"/>
              </a:rPr>
              <a:t>Hardest test</a:t>
            </a:r>
            <a:endParaRPr lang="en-IN" sz="11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/>
                <a:ea typeface="Arial"/>
              </a:rPr>
              <a:t>Drug absent from training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136" name="Google Shape;331;g3f72e609c93_0_96"/>
          <p:cNvSpPr/>
          <p:nvPr/>
        </p:nvSpPr>
        <p:spPr>
          <a:xfrm>
            <a:off x="2272680" y="5310720"/>
            <a:ext cx="7300800" cy="555840"/>
          </a:xfrm>
          <a:prstGeom prst="roundRect">
            <a:avLst>
              <a:gd name="adj" fmla="val 16667"/>
            </a:avLst>
          </a:prstGeom>
          <a:solidFill>
            <a:srgbClr val="182B44"/>
          </a:solidFill>
          <a:ln w="9525">
            <a:solidFill>
              <a:srgbClr val="182B4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7" name="Google Shape;332;g3f72e609c93_0_96"/>
          <p:cNvSpPr/>
          <p:nvPr/>
        </p:nvSpPr>
        <p:spPr>
          <a:xfrm>
            <a:off x="2728440" y="5390640"/>
            <a:ext cx="581832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Arial"/>
                <a:ea typeface="Arial"/>
              </a:rPr>
              <a:t>  RELIABLE DRUG-COMBINATION PREDICTION PIPELINE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38" name="Google Shape;333;g3f72e609c93_0_96"/>
          <p:cNvSpPr/>
          <p:nvPr/>
        </p:nvSpPr>
        <p:spPr>
          <a:xfrm>
            <a:off x="1417320" y="5997600"/>
            <a:ext cx="10022400" cy="605520"/>
          </a:xfrm>
          <a:prstGeom prst="roundRect">
            <a:avLst>
              <a:gd name="adj" fmla="val 16667"/>
            </a:avLst>
          </a:prstGeom>
          <a:solidFill>
            <a:srgbClr val="FCF6E6"/>
          </a:solidFill>
          <a:ln w="9525">
            <a:solidFill>
              <a:srgbClr val="D2963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9" name="Google Shape;334;g3f72e609c93_0_96"/>
          <p:cNvSpPr/>
          <p:nvPr/>
        </p:nvSpPr>
        <p:spPr>
          <a:xfrm>
            <a:off x="1444320" y="6041520"/>
            <a:ext cx="991368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rgbClr val="182B44"/>
                </a:solidFill>
                <a:latin typeface="Arial"/>
                <a:ea typeface="Arial"/>
              </a:rPr>
              <a:t>Design principle: predict using molecular, biological and experimental information - without target-derived information.</a:t>
            </a:r>
            <a:endParaRPr lang="en-IN" sz="16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249;g3f72e609c93_0_146"/>
          <p:cNvSpPr/>
          <p:nvPr/>
        </p:nvSpPr>
        <p:spPr>
          <a:xfrm>
            <a:off x="4161600" y="942120"/>
            <a:ext cx="3837960" cy="5512680"/>
          </a:xfrm>
          <a:prstGeom prst="roundRect">
            <a:avLst>
              <a:gd name="adj" fmla="val 16667"/>
            </a:avLst>
          </a:prstGeom>
          <a:solidFill>
            <a:srgbClr val="FFFDFB"/>
          </a:solidFill>
          <a:ln w="9525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Google Shape;249;g3f72e609c93_0_146"/>
          <p:cNvSpPr/>
          <p:nvPr/>
        </p:nvSpPr>
        <p:spPr>
          <a:xfrm>
            <a:off x="195120" y="981360"/>
            <a:ext cx="3837960" cy="5512680"/>
          </a:xfrm>
          <a:prstGeom prst="roundRect">
            <a:avLst>
              <a:gd name="adj" fmla="val 16667"/>
            </a:avLst>
          </a:prstGeom>
          <a:solidFill>
            <a:srgbClr val="FFFDFB"/>
          </a:solidFill>
          <a:ln w="9525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2" name="Google Shape;423;g3f72e609c93_0_190"/>
          <p:cNvSpPr/>
          <p:nvPr/>
        </p:nvSpPr>
        <p:spPr>
          <a:xfrm>
            <a:off x="611640" y="173520"/>
            <a:ext cx="838260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192D4B"/>
                </a:solidFill>
                <a:latin typeface="Arial"/>
                <a:ea typeface="Arial"/>
              </a:rPr>
              <a:t>Machine Learning Model Selection &amp; Final Model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43" name="Google Shape;424;g3f72e609c93_0_190"/>
          <p:cNvSpPr/>
          <p:nvPr/>
        </p:nvSpPr>
        <p:spPr>
          <a:xfrm>
            <a:off x="502920" y="804600"/>
            <a:ext cx="11155320" cy="31680"/>
          </a:xfrm>
          <a:prstGeom prst="rect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Google Shape;425;g3f72e609c93_0_190"/>
          <p:cNvSpPr/>
          <p:nvPr/>
        </p:nvSpPr>
        <p:spPr>
          <a:xfrm>
            <a:off x="653760" y="1252440"/>
            <a:ext cx="2468520" cy="542520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 w="9525">
            <a:solidFill>
              <a:srgbClr val="00828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500" b="1" strike="noStrike" spc="-1">
                <a:solidFill>
                  <a:srgbClr val="00828C"/>
                </a:solidFill>
                <a:latin typeface="Calibri"/>
                <a:ea typeface="Calibri"/>
              </a:rPr>
              <a:t>Model Selection</a:t>
            </a:r>
            <a:endParaRPr lang="en-IN" sz="2500" b="0" strike="noStrike" spc="-1">
              <a:latin typeface="Arial"/>
            </a:endParaRPr>
          </a:p>
        </p:txBody>
      </p:sp>
      <p:pic>
        <p:nvPicPr>
          <p:cNvPr id="145" name="Google Shape;426;g3f72e609c93_0_190"/>
          <p:cNvPicPr/>
          <p:nvPr/>
        </p:nvPicPr>
        <p:blipFill>
          <a:blip r:embed="rId2"/>
          <a:srcRect l="9430" t="15284" r="8346" b="13495"/>
          <a:stretch/>
        </p:blipFill>
        <p:spPr>
          <a:xfrm>
            <a:off x="454320" y="1917000"/>
            <a:ext cx="800280" cy="693000"/>
          </a:xfrm>
          <a:prstGeom prst="rect">
            <a:avLst/>
          </a:prstGeom>
          <a:ln w="0">
            <a:noFill/>
          </a:ln>
        </p:spPr>
      </p:pic>
      <p:pic>
        <p:nvPicPr>
          <p:cNvPr id="146" name="Google Shape;427;g3f72e609c93_0_190"/>
          <p:cNvPicPr/>
          <p:nvPr/>
        </p:nvPicPr>
        <p:blipFill>
          <a:blip r:embed="rId3"/>
          <a:stretch/>
        </p:blipFill>
        <p:spPr>
          <a:xfrm>
            <a:off x="1353240" y="2017440"/>
            <a:ext cx="1199520" cy="461520"/>
          </a:xfrm>
          <a:prstGeom prst="rect">
            <a:avLst/>
          </a:prstGeom>
          <a:ln w="0">
            <a:noFill/>
          </a:ln>
        </p:spPr>
      </p:pic>
      <p:pic>
        <p:nvPicPr>
          <p:cNvPr id="147" name="Google Shape;428;g3f72e609c93_0_190"/>
          <p:cNvPicPr/>
          <p:nvPr/>
        </p:nvPicPr>
        <p:blipFill>
          <a:blip r:embed="rId4"/>
          <a:stretch/>
        </p:blipFill>
        <p:spPr>
          <a:xfrm>
            <a:off x="2360880" y="1931040"/>
            <a:ext cx="1490760" cy="308520"/>
          </a:xfrm>
          <a:prstGeom prst="rect">
            <a:avLst/>
          </a:prstGeom>
          <a:ln w="0">
            <a:noFill/>
          </a:ln>
        </p:spPr>
      </p:pic>
      <p:pic>
        <p:nvPicPr>
          <p:cNvPr id="148" name="Google Shape;429;g3f72e609c93_0_190"/>
          <p:cNvPicPr/>
          <p:nvPr/>
        </p:nvPicPr>
        <p:blipFill>
          <a:blip r:embed="rId5"/>
          <a:srcRect l="9182" t="16554" r="10206" b="18300"/>
          <a:stretch/>
        </p:blipFill>
        <p:spPr>
          <a:xfrm>
            <a:off x="2176560" y="2732040"/>
            <a:ext cx="1700280" cy="696600"/>
          </a:xfrm>
          <a:prstGeom prst="rect">
            <a:avLst/>
          </a:prstGeom>
          <a:ln w="0">
            <a:noFill/>
          </a:ln>
        </p:spPr>
      </p:pic>
      <p:pic>
        <p:nvPicPr>
          <p:cNvPr id="149" name="Google Shape;430;g3f72e609c93_0_190"/>
          <p:cNvPicPr/>
          <p:nvPr/>
        </p:nvPicPr>
        <p:blipFill>
          <a:blip r:embed="rId6"/>
          <a:srcRect l="11692" t="9114" r="21916" b="4636"/>
          <a:stretch/>
        </p:blipFill>
        <p:spPr>
          <a:xfrm>
            <a:off x="454320" y="2651400"/>
            <a:ext cx="1700280" cy="854640"/>
          </a:xfrm>
          <a:prstGeom prst="rect">
            <a:avLst/>
          </a:prstGeom>
          <a:ln w="0">
            <a:noFill/>
          </a:ln>
        </p:spPr>
      </p:pic>
      <p:sp>
        <p:nvSpPr>
          <p:cNvPr id="150" name="Google Shape;431;g3f72e609c93_0_190"/>
          <p:cNvSpPr/>
          <p:nvPr/>
        </p:nvSpPr>
        <p:spPr>
          <a:xfrm>
            <a:off x="4718160" y="1247400"/>
            <a:ext cx="2468520" cy="542520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 w="9525">
            <a:solidFill>
              <a:srgbClr val="00828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500" b="1" strike="noStrike" spc="-1">
                <a:solidFill>
                  <a:srgbClr val="00828C"/>
                </a:solidFill>
                <a:latin typeface="Calibri"/>
                <a:ea typeface="Calibri"/>
              </a:rPr>
              <a:t>Selected Model</a:t>
            </a:r>
            <a:endParaRPr lang="en-IN" sz="2500" b="0" strike="noStrike" spc="-1">
              <a:latin typeface="Arial"/>
            </a:endParaRPr>
          </a:p>
        </p:txBody>
      </p:sp>
      <p:sp>
        <p:nvSpPr>
          <p:cNvPr id="151" name="Google Shape;432;g3f72e609c93_0_190"/>
          <p:cNvSpPr/>
          <p:nvPr/>
        </p:nvSpPr>
        <p:spPr>
          <a:xfrm>
            <a:off x="4780440" y="1731600"/>
            <a:ext cx="2053080" cy="93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Arial"/>
                <a:ea typeface="Arial"/>
              </a:rPr>
              <a:t>50 trees</a:t>
            </a:r>
            <a:endParaRPr lang="en-IN" sz="11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Arial"/>
                <a:ea typeface="Arial"/>
              </a:rPr>
              <a:t>max_depth = 25</a:t>
            </a:r>
            <a:endParaRPr lang="en-IN" sz="1100" b="0" strike="noStrike" spc="-1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Arial"/>
                <a:ea typeface="Arial"/>
              </a:rPr>
              <a:t>random_state = 42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152" name="Google Shape;249;g3f72e609c93_0_146"/>
          <p:cNvSpPr/>
          <p:nvPr/>
        </p:nvSpPr>
        <p:spPr>
          <a:xfrm>
            <a:off x="8128080" y="902160"/>
            <a:ext cx="3837960" cy="5512680"/>
          </a:xfrm>
          <a:prstGeom prst="roundRect">
            <a:avLst>
              <a:gd name="adj" fmla="val 16667"/>
            </a:avLst>
          </a:prstGeom>
          <a:solidFill>
            <a:srgbClr val="FFFDFB"/>
          </a:solidFill>
          <a:ln w="9525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3" name="Google Shape;431;g3f72e609c93_0_190"/>
          <p:cNvSpPr/>
          <p:nvPr/>
        </p:nvSpPr>
        <p:spPr>
          <a:xfrm>
            <a:off x="8812800" y="1248480"/>
            <a:ext cx="2725200" cy="542520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 w="9525">
            <a:solidFill>
              <a:srgbClr val="00828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500" b="1" strike="noStrike" spc="-1">
                <a:solidFill>
                  <a:srgbClr val="00828C"/>
                </a:solidFill>
                <a:latin typeface="Calibri"/>
                <a:ea typeface="Calibri"/>
              </a:rPr>
              <a:t>Feature Selection</a:t>
            </a:r>
            <a:endParaRPr lang="en-IN" sz="2500" b="0" strike="noStrike" spc="-1">
              <a:latin typeface="Arial"/>
            </a:endParaRPr>
          </a:p>
        </p:txBody>
      </p:sp>
      <p:pic>
        <p:nvPicPr>
          <p:cNvPr id="154" name="Google Shape;446;g3f72e609c93_0_226"/>
          <p:cNvPicPr/>
          <p:nvPr/>
        </p:nvPicPr>
        <p:blipFill>
          <a:blip r:embed="rId7"/>
          <a:stretch/>
        </p:blipFill>
        <p:spPr>
          <a:xfrm>
            <a:off x="270360" y="3700440"/>
            <a:ext cx="3687840" cy="2175840"/>
          </a:xfrm>
          <a:prstGeom prst="rect">
            <a:avLst/>
          </a:prstGeom>
          <a:ln w="0">
            <a:noFill/>
          </a:ln>
        </p:spPr>
      </p:pic>
      <p:pic>
        <p:nvPicPr>
          <p:cNvPr id="155" name="Google Shape;572;p7" descr="feature_importance.png"/>
          <p:cNvPicPr/>
          <p:nvPr/>
        </p:nvPicPr>
        <p:blipFill>
          <a:blip r:embed="rId8"/>
          <a:stretch/>
        </p:blipFill>
        <p:spPr>
          <a:xfrm>
            <a:off x="8203320" y="1811160"/>
            <a:ext cx="3687840" cy="3016080"/>
          </a:xfrm>
          <a:prstGeom prst="rect">
            <a:avLst/>
          </a:prstGeom>
          <a:ln w="0">
            <a:noFill/>
          </a:ln>
        </p:spPr>
      </p:pic>
      <p:sp>
        <p:nvSpPr>
          <p:cNvPr id="156" name="Google Shape;573;p7"/>
          <p:cNvSpPr/>
          <p:nvPr/>
        </p:nvSpPr>
        <p:spPr>
          <a:xfrm>
            <a:off x="8223480" y="4793400"/>
            <a:ext cx="3687840" cy="145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2D2D2D"/>
                </a:solidFill>
                <a:latin typeface="Arial"/>
                <a:ea typeface="Arial"/>
              </a:rPr>
              <a:t>COMBODRUGSEQ is the dominant feature, followed by concentration-related descriptors and molecular properties. The feature ranking suggests that drug-combination identity and molecular descriptors strongly influence prediction.</a:t>
            </a:r>
            <a:endParaRPr lang="en-IN" sz="1200" b="0" strike="noStrike" spc="-1" dirty="0">
              <a:latin typeface="Arial"/>
            </a:endParaRPr>
          </a:p>
        </p:txBody>
      </p:sp>
      <p:sp>
        <p:nvSpPr>
          <p:cNvPr id="157" name="Google Shape;457;p9"/>
          <p:cNvSpPr/>
          <p:nvPr/>
        </p:nvSpPr>
        <p:spPr>
          <a:xfrm>
            <a:off x="4373640" y="4658400"/>
            <a:ext cx="3687840" cy="145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2D2D2D"/>
                </a:solidFill>
                <a:latin typeface="Arial"/>
                <a:ea typeface="Arial"/>
              </a:rPr>
              <a:t>Random Forest and Extra Trees show positive R² for cold cell-line and combination settings.</a:t>
            </a:r>
            <a:endParaRPr lang="en-IN" sz="1200" b="0" strike="noStrike" spc="-1" dirty="0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2D2D2D"/>
                </a:solidFill>
                <a:latin typeface="Arial"/>
                <a:ea typeface="Arial"/>
              </a:rPr>
              <a:t>Performance drops substantially for the cold-drug setting, indicating weaker extrapolation to unseen drug contexts.</a:t>
            </a:r>
            <a:endParaRPr lang="en-IN" sz="1200" b="0" strike="noStrike" spc="-1" dirty="0">
              <a:latin typeface="Arial"/>
            </a:endParaRPr>
          </a:p>
        </p:txBody>
      </p:sp>
      <p:pic>
        <p:nvPicPr>
          <p:cNvPr id="158" name="Google Shape;456;p9" descr="cold_start_r2.png"/>
          <p:cNvPicPr/>
          <p:nvPr/>
        </p:nvPicPr>
        <p:blipFill>
          <a:blip r:embed="rId9"/>
          <a:stretch/>
        </p:blipFill>
        <p:spPr>
          <a:xfrm>
            <a:off x="4373640" y="2610360"/>
            <a:ext cx="3347640" cy="20386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49;g3f72e609c93_0_146"/>
          <p:cNvSpPr/>
          <p:nvPr/>
        </p:nvSpPr>
        <p:spPr>
          <a:xfrm>
            <a:off x="623340" y="4947018"/>
            <a:ext cx="10914480" cy="1395360"/>
          </a:xfrm>
          <a:prstGeom prst="roundRect">
            <a:avLst>
              <a:gd name="adj" fmla="val 16667"/>
            </a:avLst>
          </a:prstGeom>
          <a:solidFill>
            <a:srgbClr val="FFFDFB"/>
          </a:solidFill>
          <a:ln w="9525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1" name="Google Shape;503;p14"/>
          <p:cNvSpPr/>
          <p:nvPr/>
        </p:nvSpPr>
        <p:spPr>
          <a:xfrm>
            <a:off x="502920" y="160200"/>
            <a:ext cx="5190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142337"/>
                </a:solidFill>
                <a:latin typeface="Arial"/>
                <a:ea typeface="Arial"/>
              </a:rPr>
              <a:t>Robust Evaluation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82" name="Google Shape;506;p14"/>
          <p:cNvSpPr/>
          <p:nvPr/>
        </p:nvSpPr>
        <p:spPr>
          <a:xfrm>
            <a:off x="502920" y="749880"/>
            <a:ext cx="11155320" cy="31680"/>
          </a:xfrm>
          <a:prstGeom prst="rect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84" name="Table 2"/>
          <p:cNvGraphicFramePr/>
          <p:nvPr>
            <p:extLst>
              <p:ext uri="{D42A27DB-BD31-4B8C-83A1-F6EECF244321}">
                <p14:modId xmlns:p14="http://schemas.microsoft.com/office/powerpoint/2010/main" val="3214489535"/>
              </p:ext>
            </p:extLst>
          </p:nvPr>
        </p:nvGraphicFramePr>
        <p:xfrm>
          <a:off x="6375240" y="1700808"/>
          <a:ext cx="5283000" cy="265596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138320"/>
                <a:gridCol w="783360"/>
                <a:gridCol w="1092960"/>
                <a:gridCol w="801360"/>
                <a:gridCol w="783360"/>
                <a:gridCol w="683640"/>
              </a:tblGrid>
              <a:tr h="6476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Split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Macro-F1 ↑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Balanced Accuracy ↑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AUROC ↑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AUPRC ↑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MCC ↑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</a:tr>
              <a:tr h="423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Random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0.6455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0.6075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0.7970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0.4725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0.3686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</a:tr>
              <a:tr h="6476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Cold Combination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0.5802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0.5621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0.7152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0.3267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0.2355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</a:tr>
              <a:tr h="5132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Cold Cell Line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0.5918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0.5696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0.7335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0.3695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0.2733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</a:tr>
              <a:tr h="423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Cold Drug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0.5436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0.5385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0.6419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0.2306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0.1475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</a:tr>
            </a:tbl>
          </a:graphicData>
        </a:graphic>
      </p:graphicFrame>
      <p:graphicFrame>
        <p:nvGraphicFramePr>
          <p:cNvPr id="185" name="Table 3"/>
          <p:cNvGraphicFramePr/>
          <p:nvPr>
            <p:extLst>
              <p:ext uri="{D42A27DB-BD31-4B8C-83A1-F6EECF244321}">
                <p14:modId xmlns:p14="http://schemas.microsoft.com/office/powerpoint/2010/main" val="479662319"/>
              </p:ext>
            </p:extLst>
          </p:nvPr>
        </p:nvGraphicFramePr>
        <p:xfrm>
          <a:off x="503014" y="1700808"/>
          <a:ext cx="5592600" cy="26838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840240"/>
                <a:gridCol w="948960"/>
                <a:gridCol w="1014120"/>
                <a:gridCol w="833040"/>
                <a:gridCol w="825840"/>
                <a:gridCol w="1130400"/>
              </a:tblGrid>
              <a:tr h="5367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Split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Precision@50 ↑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Precision@100 ↑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Recall@100 ↑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nDCG@100 ↑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Enrichment@100 ↑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</a:tr>
              <a:tr h="3445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Random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0.8390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0.7825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0.1639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0.8120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7.8173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</a:tr>
              <a:tr h="729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Cold Combination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0.6417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0.5567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0.1163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0.5892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5.5611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</a:tr>
              <a:tr h="5367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Cold Cell Line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0.9100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0.9033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0.0188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0.9172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9.0322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</a:tr>
              <a:tr h="5367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Cold Drug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0.4367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0.4073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0.0505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0.4122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4.0710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30079" y="108409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Classification Metrics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39416" y="5229200"/>
            <a:ext cx="10513168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 model performs well under random splitting but shows reduced performance in cold-start settings, particularly for unseen drugs. This indicates strong learning of known patterns, while generalization to novel drug–combination spaces remains a key challenge</a:t>
            </a:r>
            <a:endParaRPr lang="en-IN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249;g3f72e609c93_0_146"/>
          <p:cNvSpPr/>
          <p:nvPr/>
        </p:nvSpPr>
        <p:spPr>
          <a:xfrm>
            <a:off x="743760" y="4453560"/>
            <a:ext cx="10914480" cy="1395360"/>
          </a:xfrm>
          <a:prstGeom prst="roundRect">
            <a:avLst>
              <a:gd name="adj" fmla="val 16667"/>
            </a:avLst>
          </a:prstGeom>
          <a:solidFill>
            <a:srgbClr val="FFFDFB"/>
          </a:solidFill>
          <a:ln w="9525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8" name="Google Shape;414;p8"/>
          <p:cNvSpPr/>
          <p:nvPr/>
        </p:nvSpPr>
        <p:spPr>
          <a:xfrm>
            <a:off x="611640" y="173160"/>
            <a:ext cx="54115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192D4B"/>
                </a:solidFill>
                <a:latin typeface="Arial"/>
                <a:ea typeface="Arial"/>
              </a:rPr>
              <a:t>Machine Learning Model Evaluation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69" name="Google Shape;415;p8"/>
          <p:cNvSpPr/>
          <p:nvPr/>
        </p:nvSpPr>
        <p:spPr>
          <a:xfrm>
            <a:off x="561600" y="1010880"/>
            <a:ext cx="108864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rgbClr val="2D2D2D"/>
                </a:solidFill>
                <a:latin typeface="Arial"/>
                <a:ea typeface="Arial"/>
              </a:rPr>
              <a:t>Generalization, data efficiency, prediction error, feature importance and model comparison</a:t>
            </a:r>
            <a:endParaRPr lang="en-IN" sz="2100" b="0" strike="noStrike" spc="-1">
              <a:latin typeface="Arial"/>
            </a:endParaRPr>
          </a:p>
        </p:txBody>
      </p:sp>
      <p:sp>
        <p:nvSpPr>
          <p:cNvPr id="170" name="Google Shape;416;p8"/>
          <p:cNvSpPr/>
          <p:nvPr/>
        </p:nvSpPr>
        <p:spPr>
          <a:xfrm>
            <a:off x="749880" y="5953680"/>
            <a:ext cx="10698120" cy="73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0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1" name="Google Shape;418;p8"/>
          <p:cNvSpPr/>
          <p:nvPr/>
        </p:nvSpPr>
        <p:spPr>
          <a:xfrm>
            <a:off x="502920" y="804600"/>
            <a:ext cx="11155320" cy="31680"/>
          </a:xfrm>
          <a:prstGeom prst="rect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72" name="Google Shape;435;g3f72e609c93_0_190"/>
          <p:cNvPicPr/>
          <p:nvPr/>
        </p:nvPicPr>
        <p:blipFill>
          <a:blip r:embed="rId2"/>
          <a:stretch/>
        </p:blipFill>
        <p:spPr>
          <a:xfrm>
            <a:off x="611640" y="1447920"/>
            <a:ext cx="3461400" cy="2399400"/>
          </a:xfrm>
          <a:prstGeom prst="rect">
            <a:avLst/>
          </a:prstGeom>
          <a:ln w="0">
            <a:noFill/>
          </a:ln>
        </p:spPr>
      </p:pic>
      <p:pic>
        <p:nvPicPr>
          <p:cNvPr id="173" name="Google Shape;436;g3f72e609c93_0_190"/>
          <p:cNvPicPr/>
          <p:nvPr/>
        </p:nvPicPr>
        <p:blipFill>
          <a:blip r:embed="rId3"/>
          <a:stretch/>
        </p:blipFill>
        <p:spPr>
          <a:xfrm>
            <a:off x="4223792" y="1531440"/>
            <a:ext cx="2911320" cy="2399400"/>
          </a:xfrm>
          <a:prstGeom prst="rect">
            <a:avLst/>
          </a:prstGeom>
          <a:ln w="0">
            <a:noFill/>
          </a:ln>
        </p:spPr>
      </p:pic>
      <p:sp>
        <p:nvSpPr>
          <p:cNvPr id="174" name="Google Shape;479;p11"/>
          <p:cNvSpPr/>
          <p:nvPr/>
        </p:nvSpPr>
        <p:spPr>
          <a:xfrm>
            <a:off x="1071720" y="3948480"/>
            <a:ext cx="9655200" cy="44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0" strike="noStrike" spc="-1">
                <a:solidFill>
                  <a:srgbClr val="000000"/>
                </a:solidFill>
                <a:latin typeface="Arial"/>
                <a:ea typeface="Arial"/>
              </a:rPr>
              <a:t>Random → Cold Combination → Cold Cell Line → Cold Drug</a:t>
            </a:r>
            <a:endParaRPr lang="en-IN" sz="1700" b="0" strike="noStrike" spc="-1">
              <a:latin typeface="Arial"/>
            </a:endParaRPr>
          </a:p>
        </p:txBody>
      </p:sp>
      <p:sp>
        <p:nvSpPr>
          <p:cNvPr id="175" name="Google Shape;417;p8"/>
          <p:cNvSpPr/>
          <p:nvPr/>
        </p:nvSpPr>
        <p:spPr>
          <a:xfrm>
            <a:off x="1071720" y="6117840"/>
            <a:ext cx="9006480" cy="5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2D2D2D"/>
                </a:solidFill>
                <a:latin typeface="Arial"/>
                <a:ea typeface="Arial"/>
              </a:rPr>
              <a:t>Key message: tree-based models provide useful predictive performance, but cold-start generalization remains challenging, especially for unseen drug settings.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76" name="Google Shape;480;p11"/>
          <p:cNvSpPr/>
          <p:nvPr/>
        </p:nvSpPr>
        <p:spPr>
          <a:xfrm>
            <a:off x="1130400" y="4556160"/>
            <a:ext cx="3367080" cy="65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15000"/>
              </a:lnSpc>
              <a:spcBef>
                <a:spcPts val="99"/>
              </a:spcBef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000000"/>
                </a:solidFill>
                <a:latin typeface="Arial"/>
                <a:ea typeface="Arial"/>
              </a:rPr>
              <a:t>Cold Combination MAE Gap</a:t>
            </a:r>
            <a:endParaRPr lang="en-IN" sz="13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Arial"/>
                <a:ea typeface="Arial"/>
              </a:rPr>
              <a:t>7.1638 − 6.2009 = +0.9629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177" name="TextBox 19"/>
          <p:cNvSpPr/>
          <p:nvPr/>
        </p:nvSpPr>
        <p:spPr>
          <a:xfrm>
            <a:off x="8134200" y="4531320"/>
            <a:ext cx="388908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1300" b="1" strike="noStrike" spc="-1">
                <a:solidFill>
                  <a:srgbClr val="000000"/>
                </a:solidFill>
                <a:latin typeface="Arial"/>
                <a:ea typeface="Arial"/>
              </a:rPr>
              <a:t>Cold Cell Line</a:t>
            </a:r>
            <a:endParaRPr lang="en-IN" sz="13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1100" b="1" strike="noStrike" spc="-1">
                <a:solidFill>
                  <a:srgbClr val="000000"/>
                </a:solidFill>
                <a:latin typeface="Arial"/>
                <a:ea typeface="Arial"/>
              </a:rPr>
              <a:t>6.8105 − 6.2009 = +0.6096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178" name="TextBox 21"/>
          <p:cNvSpPr/>
          <p:nvPr/>
        </p:nvSpPr>
        <p:spPr>
          <a:xfrm>
            <a:off x="5092560" y="4531320"/>
            <a:ext cx="221724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da-DK" sz="1300" b="1" strike="noStrike" spc="-1">
                <a:solidFill>
                  <a:srgbClr val="000000"/>
                </a:solidFill>
                <a:latin typeface="Arial"/>
                <a:ea typeface="Arial"/>
              </a:rPr>
              <a:t>Cold Drug</a:t>
            </a:r>
            <a:endParaRPr lang="en-IN" sz="1300" b="0" strike="noStrike" spc="-1"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da-DK" sz="1100" b="1" strike="noStrike" spc="-1">
                <a:solidFill>
                  <a:srgbClr val="000000"/>
                </a:solidFill>
                <a:latin typeface="Arial"/>
                <a:ea typeface="Arial"/>
              </a:rPr>
              <a:t>7.3559 − 6.2009 = +1.1550</a:t>
            </a:r>
            <a:endParaRPr lang="en-IN" sz="1100" b="0" strike="noStrike" spc="-1">
              <a:latin typeface="Arial"/>
            </a:endParaRPr>
          </a:p>
        </p:txBody>
      </p:sp>
      <p:sp>
        <p:nvSpPr>
          <p:cNvPr id="179" name="TextBox 23"/>
          <p:cNvSpPr/>
          <p:nvPr/>
        </p:nvSpPr>
        <p:spPr>
          <a:xfrm>
            <a:off x="1638360" y="5366160"/>
            <a:ext cx="7873560" cy="49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  <a:tabLst>
                <a:tab pos="0" algn="l"/>
              </a:tabLst>
            </a:pPr>
            <a:r>
              <a:rPr lang="en-US" sz="2300" b="1" strike="noStrike" spc="-1">
                <a:solidFill>
                  <a:srgbClr val="000000"/>
                </a:solidFill>
                <a:latin typeface="Arial"/>
                <a:ea typeface="Arial"/>
              </a:rPr>
              <a:t>Largest MAE gap: Cold Drug</a:t>
            </a:r>
            <a:endParaRPr lang="en-IN" sz="2300" b="0" strike="noStrike" spc="-1">
              <a:latin typeface="Arial"/>
            </a:endParaRPr>
          </a:p>
        </p:txBody>
      </p:sp>
      <p:graphicFrame>
        <p:nvGraphicFramePr>
          <p:cNvPr id="180" name="Table 4"/>
          <p:cNvGraphicFramePr/>
          <p:nvPr>
            <p:extLst>
              <p:ext uri="{D42A27DB-BD31-4B8C-83A1-F6EECF244321}">
                <p14:modId xmlns:p14="http://schemas.microsoft.com/office/powerpoint/2010/main" val="2840348745"/>
              </p:ext>
            </p:extLst>
          </p:nvPr>
        </p:nvGraphicFramePr>
        <p:xfrm>
          <a:off x="7464152" y="1531441"/>
          <a:ext cx="4464497" cy="249468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169842"/>
                <a:gridCol w="774374"/>
                <a:gridCol w="1228898"/>
                <a:gridCol w="1291383"/>
              </a:tblGrid>
              <a:tr h="5550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 dirty="0"/>
                        <a:t>Split</a:t>
                      </a:r>
                      <a:endParaRPr lang="en-IN" sz="1000" b="0" strike="noStrike" spc="-1" dirty="0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 dirty="0"/>
                        <a:t>MAE</a:t>
                      </a:r>
                      <a:endParaRPr lang="en-IN" sz="1000" b="0" strike="noStrike" spc="-1" dirty="0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 dirty="0"/>
                        <a:t>MAE Gap </a:t>
                      </a:r>
                      <a:r>
                        <a:rPr lang="en-IN" sz="1000" strike="noStrike" spc="-1" dirty="0" err="1"/>
                        <a:t>vs</a:t>
                      </a:r>
                      <a:r>
                        <a:rPr lang="en-IN" sz="1000" strike="noStrike" spc="-1" dirty="0"/>
                        <a:t> Random</a:t>
                      </a:r>
                      <a:endParaRPr lang="en-IN" sz="1000" b="0" strike="noStrike" spc="-1" dirty="0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 dirty="0"/>
                        <a:t>R² Gap </a:t>
                      </a:r>
                      <a:r>
                        <a:rPr lang="en-IN" sz="1000" strike="noStrike" spc="-1" dirty="0" err="1"/>
                        <a:t>vs</a:t>
                      </a:r>
                      <a:r>
                        <a:rPr lang="en-IN" sz="1000" strike="noStrike" spc="-1" dirty="0"/>
                        <a:t> Random</a:t>
                      </a:r>
                      <a:endParaRPr lang="en-IN" sz="1000" b="0" strike="noStrike" spc="-1" dirty="0">
                        <a:latin typeface="Times New Roman"/>
                      </a:endParaRPr>
                    </a:p>
                  </a:txBody>
                  <a:tcPr marL="114120" marR="114120"/>
                </a:tc>
              </a:tr>
              <a:tr h="4615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 dirty="0"/>
                        <a:t>Random</a:t>
                      </a:r>
                      <a:endParaRPr lang="en-IN" sz="1000" b="0" strike="noStrike" spc="-1" dirty="0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 dirty="0"/>
                        <a:t>6.2009</a:t>
                      </a:r>
                      <a:endParaRPr lang="en-IN" sz="1000" b="0" strike="noStrike" spc="-1" dirty="0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/>
                        <a:t>0.0000</a:t>
                      </a:r>
                      <a:endParaRPr lang="en-IN" sz="1000" b="0" strike="noStrike" spc="-1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/>
                        <a:t>0.0000</a:t>
                      </a:r>
                      <a:endParaRPr lang="en-IN" sz="1000" b="0" strike="noStrike" spc="-1">
                        <a:latin typeface="Times New Roman"/>
                      </a:endParaRPr>
                    </a:p>
                  </a:txBody>
                  <a:tcPr marL="114120" marR="114120"/>
                </a:tc>
              </a:tr>
              <a:tr h="5550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 dirty="0"/>
                        <a:t>Cold Combination</a:t>
                      </a:r>
                      <a:endParaRPr lang="en-IN" sz="1000" b="0" strike="noStrike" spc="-1" dirty="0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 dirty="0"/>
                        <a:t>7.1638</a:t>
                      </a:r>
                      <a:endParaRPr lang="en-IN" sz="1000" b="0" strike="noStrike" spc="-1" dirty="0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 dirty="0"/>
                        <a:t>+0.9629</a:t>
                      </a:r>
                      <a:endParaRPr lang="en-IN" sz="1000" b="0" strike="noStrike" spc="-1" dirty="0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/>
                        <a:t>−0.2798</a:t>
                      </a:r>
                      <a:endParaRPr lang="en-IN" sz="1000" b="0" strike="noStrike" spc="-1">
                        <a:latin typeface="Times New Roman"/>
                      </a:endParaRPr>
                    </a:p>
                  </a:txBody>
                  <a:tcPr marL="114120" marR="114120"/>
                </a:tc>
              </a:tr>
              <a:tr h="4615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/>
                        <a:t>Cold Cell Line</a:t>
                      </a:r>
                      <a:endParaRPr lang="en-IN" sz="1000" b="0" strike="noStrike" spc="-1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/>
                        <a:t>6.8105</a:t>
                      </a:r>
                      <a:endParaRPr lang="en-IN" sz="1000" b="0" strike="noStrike" spc="-1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 dirty="0"/>
                        <a:t>+0.6096</a:t>
                      </a:r>
                      <a:endParaRPr lang="en-IN" sz="1000" b="0" strike="noStrike" spc="-1" dirty="0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/>
                        <a:t>−0.1480</a:t>
                      </a:r>
                      <a:endParaRPr lang="en-IN" sz="1000" b="0" strike="noStrike" spc="-1">
                        <a:latin typeface="Times New Roman"/>
                      </a:endParaRPr>
                    </a:p>
                  </a:txBody>
                  <a:tcPr marL="114120" marR="114120"/>
                </a:tc>
              </a:tr>
              <a:tr h="4615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/>
                        <a:t>Cold Drug</a:t>
                      </a:r>
                      <a:endParaRPr lang="en-IN" sz="1000" b="0" strike="noStrike" spc="-1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/>
                        <a:t>7.3559</a:t>
                      </a:r>
                      <a:endParaRPr lang="en-IN" sz="1000" b="0" strike="noStrike" spc="-1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 dirty="0"/>
                        <a:t>+1.1550</a:t>
                      </a:r>
                      <a:endParaRPr lang="en-IN" sz="1000" b="0" strike="noStrike" spc="-1" dirty="0">
                        <a:latin typeface="Times New Roman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000" strike="noStrike" spc="-1" dirty="0"/>
                        <a:t>−0.3729</a:t>
                      </a:r>
                      <a:endParaRPr lang="en-IN" sz="1000" b="0" strike="noStrike" spc="-1" dirty="0">
                        <a:latin typeface="Times New Roman"/>
                      </a:endParaRPr>
                    </a:p>
                  </a:txBody>
                  <a:tcPr marL="114120" marR="11412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414;p8"/>
          <p:cNvSpPr/>
          <p:nvPr/>
        </p:nvSpPr>
        <p:spPr>
          <a:xfrm>
            <a:off x="611640" y="173160"/>
            <a:ext cx="541152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192D4B"/>
                </a:solidFill>
                <a:latin typeface="Arial"/>
                <a:ea typeface="Arial"/>
              </a:rPr>
              <a:t>Machine Learning Model Evaluation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60" name="Google Shape;415;p8"/>
          <p:cNvSpPr/>
          <p:nvPr/>
        </p:nvSpPr>
        <p:spPr>
          <a:xfrm>
            <a:off x="561600" y="1010880"/>
            <a:ext cx="108864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0" strike="noStrike" spc="-1">
                <a:solidFill>
                  <a:srgbClr val="2D2D2D"/>
                </a:solidFill>
                <a:latin typeface="Arial"/>
                <a:ea typeface="Arial"/>
              </a:rPr>
              <a:t>Generalization, data efficiency, prediction error, feature importance and model comparison</a:t>
            </a:r>
            <a:endParaRPr lang="en-IN" sz="2100" b="0" strike="noStrike" spc="-1">
              <a:latin typeface="Arial"/>
            </a:endParaRPr>
          </a:p>
        </p:txBody>
      </p:sp>
      <p:sp>
        <p:nvSpPr>
          <p:cNvPr id="161" name="Google Shape;416;p8"/>
          <p:cNvSpPr/>
          <p:nvPr/>
        </p:nvSpPr>
        <p:spPr>
          <a:xfrm>
            <a:off x="749880" y="5269680"/>
            <a:ext cx="1069812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0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Google Shape;418;p8"/>
          <p:cNvSpPr/>
          <p:nvPr/>
        </p:nvSpPr>
        <p:spPr>
          <a:xfrm>
            <a:off x="502920" y="804600"/>
            <a:ext cx="11155320" cy="31680"/>
          </a:xfrm>
          <a:prstGeom prst="rect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63" name="Google Shape;474;p11" descr="data_efficiency_r2.png"/>
          <p:cNvPicPr/>
          <p:nvPr/>
        </p:nvPicPr>
        <p:blipFill>
          <a:blip r:embed="rId2"/>
          <a:stretch/>
        </p:blipFill>
        <p:spPr>
          <a:xfrm>
            <a:off x="286200" y="1825560"/>
            <a:ext cx="3710880" cy="24548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64" name="Google Shape;477;p11"/>
          <p:cNvGraphicFramePr/>
          <p:nvPr/>
        </p:nvGraphicFramePr>
        <p:xfrm>
          <a:off x="4150440" y="2026080"/>
          <a:ext cx="4187160" cy="2164680"/>
        </p:xfrm>
        <a:graphic>
          <a:graphicData uri="http://schemas.openxmlformats.org/drawingml/2006/table">
            <a:tbl>
              <a:tblPr/>
              <a:tblGrid>
                <a:gridCol w="886680"/>
                <a:gridCol w="850320"/>
                <a:gridCol w="761400"/>
                <a:gridCol w="742320"/>
                <a:gridCol w="946440"/>
              </a:tblGrid>
              <a:tr h="47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1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Training data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1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Samples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1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MAE ↓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1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RMSE ↓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1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R² ↑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</a:tr>
              <a:tr h="330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1%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22,971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7.7750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12.1800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0.0413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</a:tr>
              <a:tr h="36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5%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114,857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7.2126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11.1691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0.1938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</a:tr>
              <a:tr h="289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10%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229,715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6.9535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10.6704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0.2642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25%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574,288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6.6511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10.0917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0.3419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</a:tr>
              <a:tr h="385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100%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2,297,155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6.2009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9.1981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900" b="0" strike="noStrike" spc="-1">
                          <a:solidFill>
                            <a:srgbClr val="1F1F1F"/>
                          </a:solidFill>
                          <a:latin typeface="Arial"/>
                          <a:ea typeface="Arial"/>
                        </a:rPr>
                        <a:t>0.4532</a:t>
                      </a:r>
                      <a:endParaRPr lang="en-IN" sz="900" b="0" strike="noStrike" spc="-1">
                        <a:latin typeface="Arial"/>
                      </a:endParaRPr>
                    </a:p>
                  </a:txBody>
                  <a:tcPr marL="114120" marR="11412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pic>
        <p:nvPicPr>
          <p:cNvPr id="165" name="Picture 18"/>
          <p:cNvPicPr/>
          <p:nvPr/>
        </p:nvPicPr>
        <p:blipFill>
          <a:blip r:embed="rId3"/>
          <a:stretch/>
        </p:blipFill>
        <p:spPr>
          <a:xfrm>
            <a:off x="8366400" y="1853640"/>
            <a:ext cx="3825360" cy="2454840"/>
          </a:xfrm>
          <a:prstGeom prst="rect">
            <a:avLst/>
          </a:prstGeom>
          <a:ln w="0">
            <a:noFill/>
          </a:ln>
        </p:spPr>
      </p:pic>
      <p:sp>
        <p:nvSpPr>
          <p:cNvPr id="166" name="Google Shape;475;p11"/>
          <p:cNvSpPr/>
          <p:nvPr/>
        </p:nvSpPr>
        <p:spPr>
          <a:xfrm>
            <a:off x="1170360" y="5542503"/>
            <a:ext cx="9443160" cy="8720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b="0" strike="noStrike" spc="-1" dirty="0">
                <a:solidFill>
                  <a:srgbClr val="2D2D2D"/>
                </a:solidFill>
                <a:latin typeface="Arial"/>
                <a:ea typeface="Arial"/>
              </a:rPr>
              <a:t>The model gains most of its predictive capability from the first 10–25% of the training data. </a:t>
            </a:r>
            <a:endParaRPr lang="en-IN" b="0" strike="noStrike" spc="-1" dirty="0">
              <a:latin typeface="Arial"/>
            </a:endParaRPr>
          </a:p>
          <a:p>
            <a:pPr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b="0" strike="noStrike" spc="-1" dirty="0">
                <a:solidFill>
                  <a:srgbClr val="2D2D2D"/>
                </a:solidFill>
                <a:latin typeface="Arial"/>
                <a:ea typeface="Arial"/>
              </a:rPr>
              <a:t>At 25% of the data, R² reaches roughly 0.34, while the full dataset reaches about 0.45.</a:t>
            </a:r>
            <a:endParaRPr lang="en-IN" b="0" strike="noStrike" spc="-1" dirty="0">
              <a:latin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79776" y="1694755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/>
              <a:t> Effect of training-data size on Extra Trees prediction performance</a:t>
            </a:r>
            <a:endParaRPr lang="en-IN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518;p16"/>
          <p:cNvSpPr/>
          <p:nvPr/>
        </p:nvSpPr>
        <p:spPr>
          <a:xfrm>
            <a:off x="502920" y="182880"/>
            <a:ext cx="5240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142337"/>
                </a:solidFill>
                <a:latin typeface="Arial"/>
                <a:ea typeface="Arial"/>
              </a:rPr>
              <a:t>Explainability &amp; Drug Prioritization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87" name="Google Shape;519;p16"/>
          <p:cNvSpPr/>
          <p:nvPr/>
        </p:nvSpPr>
        <p:spPr>
          <a:xfrm>
            <a:off x="5743080" y="1003680"/>
            <a:ext cx="5825528" cy="26622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232D37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232D37"/>
                </a:solidFill>
                <a:latin typeface="Arial"/>
                <a:ea typeface="Arial"/>
              </a:rPr>
              <a:t>SHAP analysis identifies the features driving model predictions..</a:t>
            </a:r>
            <a:endParaRPr lang="en-IN" sz="1400" b="0" strike="noStrike" spc="-1" dirty="0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232D37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232D37"/>
                </a:solidFill>
                <a:latin typeface="Arial"/>
                <a:ea typeface="Arial"/>
              </a:rPr>
              <a:t>Predicted scores can be used to rank drug combinations for follow-up experiments.</a:t>
            </a:r>
            <a:endParaRPr lang="en-IN" sz="1400" b="0" strike="noStrike" spc="-1" dirty="0"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1199"/>
              </a:spcBef>
              <a:buClr>
                <a:srgbClr val="232D37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232D37"/>
                </a:solidFill>
                <a:latin typeface="Arial"/>
                <a:ea typeface="Arial"/>
              </a:rPr>
              <a:t>High Precision and Enrichment indicate that the model can concentrate promising candidates near the top of the ranking.</a:t>
            </a:r>
            <a:endParaRPr lang="en-IN" sz="1400" b="0" strike="noStrike" spc="-1" dirty="0"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1199"/>
              </a:spcBef>
              <a:buClr>
                <a:srgbClr val="232D37"/>
              </a:buClr>
              <a:buFont typeface="Arial"/>
              <a:buChar char="•"/>
            </a:pPr>
            <a:r>
              <a:rPr lang="en-US" sz="1400" b="0" strike="noStrike" spc="-1" dirty="0">
                <a:solidFill>
                  <a:srgbClr val="232D37"/>
                </a:solidFill>
                <a:latin typeface="Arial"/>
                <a:ea typeface="Arial"/>
              </a:rPr>
              <a:t>Interpretability provides a bridge from predictive modeling to actionable drug-discovery decisions.</a:t>
            </a:r>
            <a:endParaRPr lang="en-IN" sz="1400" b="0" strike="noStrike" spc="-1" dirty="0">
              <a:latin typeface="Arial"/>
            </a:endParaRPr>
          </a:p>
        </p:txBody>
      </p:sp>
      <p:sp>
        <p:nvSpPr>
          <p:cNvPr id="188" name="Google Shape;520;p16"/>
          <p:cNvSpPr/>
          <p:nvPr/>
        </p:nvSpPr>
        <p:spPr>
          <a:xfrm>
            <a:off x="502920" y="749880"/>
            <a:ext cx="11155320" cy="31680"/>
          </a:xfrm>
          <a:prstGeom prst="rect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89" name="Google Shape;434;g3f72e609c93_0_190"/>
          <p:cNvPicPr/>
          <p:nvPr/>
        </p:nvPicPr>
        <p:blipFill>
          <a:blip r:embed="rId2"/>
          <a:stretch/>
        </p:blipFill>
        <p:spPr>
          <a:xfrm>
            <a:off x="1127448" y="4056738"/>
            <a:ext cx="3395800" cy="2612622"/>
          </a:xfrm>
          <a:prstGeom prst="rect">
            <a:avLst/>
          </a:prstGeom>
          <a:ln w="0">
            <a:noFill/>
          </a:ln>
        </p:spPr>
      </p:pic>
      <p:graphicFrame>
        <p:nvGraphicFramePr>
          <p:cNvPr id="6" name="Table 1"/>
          <p:cNvGraphicFramePr/>
          <p:nvPr>
            <p:extLst>
              <p:ext uri="{D42A27DB-BD31-4B8C-83A1-F6EECF244321}">
                <p14:modId xmlns:p14="http://schemas.microsoft.com/office/powerpoint/2010/main" val="1409989058"/>
              </p:ext>
            </p:extLst>
          </p:nvPr>
        </p:nvGraphicFramePr>
        <p:xfrm>
          <a:off x="502920" y="1063391"/>
          <a:ext cx="4896064" cy="25450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249308"/>
                <a:gridCol w="633163"/>
                <a:gridCol w="709118"/>
                <a:gridCol w="633163"/>
                <a:gridCol w="776563"/>
                <a:gridCol w="894749"/>
              </a:tblGrid>
              <a:tr h="419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Model / Split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MAE ↓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RMSE ↓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R² ↑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Pearson ↑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Spearman ↑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</a:tr>
              <a:tr h="4295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Extra Trees — Random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6.2009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9.1981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0.4532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0.6770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0.5395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</a:tr>
              <a:tr h="5563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Extra Trees — Cold Combination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7.1638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11.3680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0.1735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0.4177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0.3815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</a:tr>
              <a:tr h="4295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Extra Trees — Cold Cell Line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6.8105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10.9512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0.3052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0.5540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0.4260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</a:tr>
              <a:tr h="4295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Extra Trees — Cold Drug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7.3559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11.0555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0.0804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/>
                        <a:t>0.3175</a:t>
                      </a:r>
                      <a:endParaRPr lang="en-IN" sz="1100" b="0" strike="noStrike" spc="-1">
                        <a:latin typeface="Arial"/>
                      </a:endParaRPr>
                    </a:p>
                  </a:txBody>
                  <a:tcPr marL="114120" marR="114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401"/>
                        </a:spcAft>
                        <a:buNone/>
                      </a:pPr>
                      <a:r>
                        <a:rPr lang="en-IN" sz="1100" strike="noStrike" spc="-1" dirty="0"/>
                        <a:t>0.2960</a:t>
                      </a:r>
                      <a:endParaRPr lang="en-IN" sz="1100" b="0" strike="noStrike" spc="-1" dirty="0">
                        <a:latin typeface="Arial"/>
                      </a:endParaRPr>
                    </a:p>
                  </a:txBody>
                  <a:tcPr marL="114120" marR="114120"/>
                </a:tc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424299" y="3751147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/>
              <a:t> </a:t>
            </a:r>
            <a:r>
              <a:rPr lang="en-US" sz="1000" dirty="0" smtClean="0"/>
              <a:t>Table: Regression </a:t>
            </a:r>
            <a:r>
              <a:rPr lang="en-US" sz="1000" dirty="0"/>
              <a:t>performance of the Extra Trees model across random and cold-start evaluation settings</a:t>
            </a:r>
            <a:endParaRPr lang="en-IN" sz="1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848" y="4282929"/>
            <a:ext cx="3087918" cy="21602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4071558"/>
            <a:ext cx="3770388" cy="2292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525;p17"/>
          <p:cNvSpPr/>
          <p:nvPr/>
        </p:nvSpPr>
        <p:spPr>
          <a:xfrm>
            <a:off x="11213280" y="123840"/>
            <a:ext cx="399240" cy="3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Arial"/>
              </a:rPr>
              <a:t>09</a:t>
            </a:r>
            <a:endParaRPr lang="en-IN" sz="1500" b="0" strike="noStrike" spc="-1">
              <a:latin typeface="Arial"/>
            </a:endParaRPr>
          </a:p>
        </p:txBody>
      </p:sp>
      <p:sp>
        <p:nvSpPr>
          <p:cNvPr id="191" name="Google Shape;526;p17"/>
          <p:cNvSpPr/>
          <p:nvPr/>
        </p:nvSpPr>
        <p:spPr>
          <a:xfrm>
            <a:off x="685800" y="1051560"/>
            <a:ext cx="10835280" cy="72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0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2" name="Google Shape;527;p17"/>
          <p:cNvSpPr/>
          <p:nvPr/>
        </p:nvSpPr>
        <p:spPr>
          <a:xfrm>
            <a:off x="731520" y="1261800"/>
            <a:ext cx="159984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92D4B"/>
                </a:solidFill>
                <a:latin typeface="Arial"/>
                <a:ea typeface="Arial"/>
              </a:rPr>
              <a:t>Generalization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93" name="Google Shape;528;p17"/>
          <p:cNvSpPr/>
          <p:nvPr/>
        </p:nvSpPr>
        <p:spPr>
          <a:xfrm>
            <a:off x="2847600" y="1199520"/>
            <a:ext cx="721692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2D2D2D"/>
                </a:solidFill>
                <a:latin typeface="Arial"/>
                <a:ea typeface="Arial"/>
              </a:rPr>
              <a:t>Performance decreases under cold-start settings, with cold-drug prediction being the most challenging.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194" name="Google Shape;529;p17"/>
          <p:cNvSpPr/>
          <p:nvPr/>
        </p:nvSpPr>
        <p:spPr>
          <a:xfrm>
            <a:off x="685800" y="1939968"/>
            <a:ext cx="10835280" cy="69694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0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Google Shape;530;p17"/>
          <p:cNvSpPr/>
          <p:nvPr/>
        </p:nvSpPr>
        <p:spPr>
          <a:xfrm>
            <a:off x="731520" y="2132856"/>
            <a:ext cx="163332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192D4B"/>
                </a:solidFill>
                <a:latin typeface="Arial"/>
                <a:ea typeface="Arial"/>
              </a:rPr>
              <a:t>Data efficiency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196" name="Google Shape;531;p17"/>
          <p:cNvSpPr/>
          <p:nvPr/>
        </p:nvSpPr>
        <p:spPr>
          <a:xfrm>
            <a:off x="2817360" y="2157376"/>
            <a:ext cx="6877440" cy="33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2D2D2D"/>
                </a:solidFill>
                <a:latin typeface="Arial"/>
                <a:ea typeface="Arial"/>
              </a:rPr>
              <a:t>MAE falls from 7.78 → 6.20 as training data increases from 1% → 100%.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197" name="Google Shape;532;p17"/>
          <p:cNvSpPr/>
          <p:nvPr/>
        </p:nvSpPr>
        <p:spPr>
          <a:xfrm>
            <a:off x="685800" y="2892579"/>
            <a:ext cx="10835280" cy="84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0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8" name="Google Shape;533;p17"/>
          <p:cNvSpPr/>
          <p:nvPr/>
        </p:nvSpPr>
        <p:spPr>
          <a:xfrm>
            <a:off x="685800" y="2926736"/>
            <a:ext cx="172476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192D4B"/>
                </a:solidFill>
                <a:latin typeface="Arial"/>
                <a:ea typeface="Arial"/>
              </a:rPr>
              <a:t>Prediction error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199" name="Google Shape;534;p17"/>
          <p:cNvSpPr/>
          <p:nvPr/>
        </p:nvSpPr>
        <p:spPr>
          <a:xfrm>
            <a:off x="2817360" y="2849269"/>
            <a:ext cx="7959160" cy="5847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2D2D2D"/>
                </a:solidFill>
                <a:latin typeface="Arial"/>
                <a:ea typeface="Arial"/>
              </a:rPr>
              <a:t>MAE steadily decreases as training data increases, confirming benefit from additional examples.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200" name="Google Shape;535;p17"/>
          <p:cNvSpPr/>
          <p:nvPr/>
        </p:nvSpPr>
        <p:spPr>
          <a:xfrm>
            <a:off x="685800" y="4014360"/>
            <a:ext cx="10835280" cy="84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0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1" name="Google Shape;536;p17"/>
          <p:cNvSpPr/>
          <p:nvPr/>
        </p:nvSpPr>
        <p:spPr>
          <a:xfrm>
            <a:off x="685800" y="4128840"/>
            <a:ext cx="103860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>
                <a:solidFill>
                  <a:srgbClr val="192D4B"/>
                </a:solidFill>
                <a:latin typeface="Arial"/>
                <a:ea typeface="Arial"/>
              </a:rPr>
              <a:t>Features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202" name="Google Shape;537;p17"/>
          <p:cNvSpPr/>
          <p:nvPr/>
        </p:nvSpPr>
        <p:spPr>
          <a:xfrm>
            <a:off x="2722680" y="4120920"/>
            <a:ext cx="893556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rgbClr val="2D2D2D"/>
                </a:solidFill>
                <a:latin typeface="Arial"/>
                <a:ea typeface="Arial"/>
              </a:rPr>
              <a:t>COMBODRUGSEQ is the dominant predictive feature, with molecular and concentration descriptors also contributing.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203" name="Google Shape;538;p17"/>
          <p:cNvSpPr/>
          <p:nvPr/>
        </p:nvSpPr>
        <p:spPr>
          <a:xfrm>
            <a:off x="685800" y="5001840"/>
            <a:ext cx="10835280" cy="840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CE0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4" name="Google Shape;539;p17"/>
          <p:cNvSpPr/>
          <p:nvPr/>
        </p:nvSpPr>
        <p:spPr>
          <a:xfrm>
            <a:off x="670680" y="5185080"/>
            <a:ext cx="148428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192D4B"/>
                </a:solidFill>
                <a:latin typeface="Arial"/>
                <a:ea typeface="Arial"/>
              </a:rPr>
              <a:t>Model choice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205" name="Google Shape;540;p17"/>
          <p:cNvSpPr/>
          <p:nvPr/>
        </p:nvSpPr>
        <p:spPr>
          <a:xfrm>
            <a:off x="2743200" y="5133240"/>
            <a:ext cx="8290800" cy="57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2D2D2D"/>
                </a:solidFill>
                <a:latin typeface="Arial"/>
                <a:ea typeface="Arial"/>
              </a:rPr>
              <a:t>Targeted optimization improved Extra Trees to the final MAE of 6.20, outperforming its baseline performance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206" name="Google Shape;541;p17"/>
          <p:cNvSpPr/>
          <p:nvPr/>
        </p:nvSpPr>
        <p:spPr>
          <a:xfrm>
            <a:off x="594360" y="320040"/>
            <a:ext cx="2592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rgbClr val="142337"/>
                </a:solidFill>
                <a:latin typeface="Arial"/>
                <a:ea typeface="Arial"/>
              </a:rPr>
              <a:t>Overall Findings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207" name="Google Shape;542;p17"/>
          <p:cNvSpPr/>
          <p:nvPr/>
        </p:nvSpPr>
        <p:spPr>
          <a:xfrm>
            <a:off x="502920" y="804600"/>
            <a:ext cx="11155320" cy="31680"/>
          </a:xfrm>
          <a:prstGeom prst="rect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547;g3f72e609c93_0_1"/>
          <p:cNvSpPr/>
          <p:nvPr/>
        </p:nvSpPr>
        <p:spPr>
          <a:xfrm>
            <a:off x="594360" y="320040"/>
            <a:ext cx="5926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strike="noStrike" spc="-1" dirty="0">
                <a:solidFill>
                  <a:srgbClr val="142337"/>
                </a:solidFill>
                <a:latin typeface="Arial"/>
                <a:ea typeface="Arial"/>
              </a:rPr>
              <a:t>Impact, Limitations &amp; Future Directions</a:t>
            </a:r>
            <a:endParaRPr lang="en-IN" sz="2400" b="0" strike="noStrike" spc="-1" dirty="0">
              <a:latin typeface="Arial"/>
            </a:endParaRPr>
          </a:p>
        </p:txBody>
      </p:sp>
      <p:sp>
        <p:nvSpPr>
          <p:cNvPr id="209" name="Google Shape;548;g3f72e609c93_0_1"/>
          <p:cNvSpPr/>
          <p:nvPr/>
        </p:nvSpPr>
        <p:spPr>
          <a:xfrm>
            <a:off x="502920" y="804600"/>
            <a:ext cx="11155320" cy="31680"/>
          </a:xfrm>
          <a:prstGeom prst="rect">
            <a:avLst/>
          </a:prstGeom>
          <a:solidFill>
            <a:srgbClr val="008087"/>
          </a:soli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Google Shape;549;g3f72e609c93_0_1"/>
          <p:cNvSpPr/>
          <p:nvPr/>
        </p:nvSpPr>
        <p:spPr>
          <a:xfrm>
            <a:off x="1709524" y="4653136"/>
            <a:ext cx="8900280" cy="461520"/>
          </a:xfrm>
          <a:prstGeom prst="rect">
            <a:avLst/>
          </a:prstGeom>
          <a:solidFill>
            <a:schemeClr val="dk2"/>
          </a:solidFill>
          <a:ln w="9525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ML prioritizes candidates — Experimental validation remains essential</a:t>
            </a:r>
            <a:endParaRPr lang="en-IN" sz="2000" b="0" strike="noStrike" spc="-1" dirty="0">
              <a:latin typeface="Arial"/>
            </a:endParaRPr>
          </a:p>
        </p:txBody>
      </p:sp>
      <p:sp>
        <p:nvSpPr>
          <p:cNvPr id="211" name="Google Shape;550;g3f72e609c93_0_1"/>
          <p:cNvSpPr/>
          <p:nvPr/>
        </p:nvSpPr>
        <p:spPr>
          <a:xfrm>
            <a:off x="1233720" y="1009200"/>
            <a:ext cx="4021200" cy="1495440"/>
          </a:xfrm>
          <a:prstGeom prst="rect">
            <a:avLst/>
          </a:prstGeom>
          <a:solidFill>
            <a:srgbClr val="C9DAF8"/>
          </a:solidFill>
          <a:ln w="9525">
            <a:solidFill>
              <a:srgbClr val="1155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Google Shape;551;g3f72e609c93_0_1"/>
          <p:cNvSpPr/>
          <p:nvPr/>
        </p:nvSpPr>
        <p:spPr>
          <a:xfrm>
            <a:off x="6563520" y="1009200"/>
            <a:ext cx="4021200" cy="1495440"/>
          </a:xfrm>
          <a:prstGeom prst="rect">
            <a:avLst/>
          </a:prstGeom>
          <a:solidFill>
            <a:srgbClr val="FFEAE6"/>
          </a:solidFill>
          <a:ln w="9525">
            <a:solidFill>
              <a:srgbClr val="1155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Google Shape;552;g3f72e609c93_0_1"/>
          <p:cNvSpPr/>
          <p:nvPr/>
        </p:nvSpPr>
        <p:spPr>
          <a:xfrm>
            <a:off x="1233720" y="2764200"/>
            <a:ext cx="4021200" cy="1586520"/>
          </a:xfrm>
          <a:prstGeom prst="rect">
            <a:avLst/>
          </a:prstGeom>
          <a:solidFill>
            <a:srgbClr val="FFEAE6"/>
          </a:solidFill>
          <a:ln w="9525">
            <a:solidFill>
              <a:srgbClr val="1155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Google Shape;553;g3f72e609c93_0_1"/>
          <p:cNvSpPr/>
          <p:nvPr/>
        </p:nvSpPr>
        <p:spPr>
          <a:xfrm>
            <a:off x="6563520" y="2764200"/>
            <a:ext cx="4021200" cy="1663920"/>
          </a:xfrm>
          <a:prstGeom prst="rect">
            <a:avLst/>
          </a:prstGeom>
          <a:solidFill>
            <a:srgbClr val="C9DAF8"/>
          </a:solidFill>
          <a:ln w="9525">
            <a:solidFill>
              <a:srgbClr val="1155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TextBox 2"/>
          <p:cNvSpPr/>
          <p:nvPr/>
        </p:nvSpPr>
        <p:spPr>
          <a:xfrm>
            <a:off x="1439640" y="1086600"/>
            <a:ext cx="3609000" cy="164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Key Assumptions</a:t>
            </a:r>
            <a:endParaRPr lang="en-IN" sz="1500" b="0" strike="noStrike" spc="-1" dirty="0">
              <a:latin typeface="Arial"/>
            </a:endParaRPr>
          </a:p>
          <a:p>
            <a:pPr marL="457200" indent="-3110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Calibri"/>
              <a:buChar char="●"/>
              <a:tabLst>
                <a:tab pos="0" algn="l"/>
              </a:tabLst>
            </a:pPr>
            <a:r>
              <a:rPr lang="en-US" sz="13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Molecular, experimental and cell-line features capture relevant activity signals.</a:t>
            </a:r>
            <a:endParaRPr lang="en-IN" sz="1300" b="0" strike="noStrike" spc="-1" dirty="0"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SCORE reliably represents drug-combination activity.</a:t>
            </a:r>
            <a:endParaRPr lang="en-IN" sz="1300" b="0" strike="noStrike" spc="-1" dirty="0">
              <a:latin typeface="Arial"/>
            </a:endParaRPr>
          </a:p>
        </p:txBody>
      </p:sp>
      <p:sp>
        <p:nvSpPr>
          <p:cNvPr id="216" name="TextBox 4"/>
          <p:cNvSpPr/>
          <p:nvPr/>
        </p:nvSpPr>
        <p:spPr>
          <a:xfrm>
            <a:off x="6563520" y="1046640"/>
            <a:ext cx="4188240" cy="14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Limitations &amp; Uncertainty</a:t>
            </a:r>
            <a:endParaRPr lang="en-IN" sz="1500" b="0" strike="noStrike" spc="-1" dirty="0">
              <a:latin typeface="Arial"/>
            </a:endParaRPr>
          </a:p>
          <a:p>
            <a:pPr marL="457200" indent="-3110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Generalization is limited for </a:t>
            </a:r>
            <a:r>
              <a:rPr lang="en-US" sz="13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unseen drugs</a:t>
            </a:r>
            <a:r>
              <a:rPr lang="en-US" sz="13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and out-of-distribution samples.</a:t>
            </a:r>
            <a:endParaRPr lang="en-IN" sz="1300" b="0" strike="noStrike" spc="-1" dirty="0"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Calibri"/>
              <a:buChar char="●"/>
              <a:tabLst>
                <a:tab pos="0" algn="l"/>
              </a:tabLst>
            </a:pPr>
            <a:r>
              <a:rPr lang="en-US" sz="13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Dataset bias and experimental variability may affect predictions.</a:t>
            </a:r>
            <a:endParaRPr lang="en-IN" sz="1300" b="0" strike="noStrike" spc="-1" dirty="0">
              <a:latin typeface="Arial"/>
            </a:endParaRPr>
          </a:p>
        </p:txBody>
      </p:sp>
      <p:sp>
        <p:nvSpPr>
          <p:cNvPr id="217" name="TextBox 6"/>
          <p:cNvSpPr/>
          <p:nvPr/>
        </p:nvSpPr>
        <p:spPr>
          <a:xfrm>
            <a:off x="1233720" y="2867160"/>
            <a:ext cx="4021200" cy="164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Methodological Risks</a:t>
            </a:r>
            <a:endParaRPr lang="en-IN" sz="1500" b="0" strike="noStrike" spc="-1" dirty="0">
              <a:latin typeface="Arial"/>
            </a:endParaRPr>
          </a:p>
          <a:p>
            <a:pPr marL="457200" indent="-3110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Data leakage and distribution shift</a:t>
            </a:r>
            <a:r>
              <a:rPr lang="en-US" sz="13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can inflate apparent performance.</a:t>
            </a:r>
            <a:endParaRPr lang="en-IN" sz="1300" b="0" strike="noStrike" spc="-1" dirty="0"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Feature association ≠ biological causation</a:t>
            </a:r>
            <a:r>
              <a:rPr lang="en-US" sz="13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; predictions require experimental validation.</a:t>
            </a:r>
            <a:endParaRPr lang="en-IN" sz="1300" b="0" strike="noStrike" spc="-1" dirty="0">
              <a:latin typeface="Arial"/>
            </a:endParaRPr>
          </a:p>
        </p:txBody>
      </p:sp>
      <p:sp>
        <p:nvSpPr>
          <p:cNvPr id="218" name="TextBox 8"/>
          <p:cNvSpPr/>
          <p:nvPr/>
        </p:nvSpPr>
        <p:spPr>
          <a:xfrm>
            <a:off x="6521040" y="2796600"/>
            <a:ext cx="4021200" cy="162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3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Future Directions</a:t>
            </a:r>
            <a:endParaRPr lang="en-IN" sz="1300" b="0" strike="noStrike" spc="-1" dirty="0"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Richer biological &amp; molecular representations:</a:t>
            </a:r>
            <a:r>
              <a:rPr lang="en-US" sz="11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Integrate molecular fingerprints/GNNs with genomic, </a:t>
            </a:r>
            <a:r>
              <a:rPr lang="en-US" sz="11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omics</a:t>
            </a:r>
            <a:r>
              <a:rPr lang="en-US" sz="11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, target and pathway information</a:t>
            </a:r>
            <a:endParaRPr lang="en-IN" sz="1100" b="0" strike="noStrike" spc="-1" dirty="0"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Uncertainty-aware active learning:</a:t>
            </a:r>
            <a:r>
              <a:rPr lang="en-US" sz="11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Quantify prediction confidence and iteratively prioritize the most informative experiments</a:t>
            </a:r>
            <a:endParaRPr lang="en-IN" sz="1100" b="0" strike="noStrike" spc="-1" dirty="0">
              <a:latin typeface="Arial"/>
            </a:endParaRPr>
          </a:p>
        </p:txBody>
      </p:sp>
      <p:sp>
        <p:nvSpPr>
          <p:cNvPr id="219" name="Google Shape;559;p19"/>
          <p:cNvSpPr/>
          <p:nvPr/>
        </p:nvSpPr>
        <p:spPr>
          <a:xfrm>
            <a:off x="1645560" y="5906673"/>
            <a:ext cx="8512920" cy="10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1" strike="noStrike" spc="-1" dirty="0">
                <a:solidFill>
                  <a:srgbClr val="C00000"/>
                </a:solidFill>
                <a:latin typeface="Calibri"/>
                <a:ea typeface="Calibri"/>
              </a:rPr>
              <a:t>Thank You !</a:t>
            </a:r>
            <a:endParaRPr lang="en-IN" sz="4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Team </a:t>
            </a:r>
            <a:r>
              <a:rPr lang="en-US" sz="2000" b="0" strike="noStrike" spc="-1" dirty="0" err="1">
                <a:solidFill>
                  <a:srgbClr val="FFFFFF"/>
                </a:solidFill>
                <a:latin typeface="Calibri"/>
                <a:ea typeface="Calibri"/>
              </a:rPr>
              <a:t>Sanjeevani</a:t>
            </a:r>
            <a:endParaRPr lang="en-IN" sz="2000" b="0" strike="noStrike" spc="-1" dirty="0">
              <a:latin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28164" y="5432239"/>
            <a:ext cx="890483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AI Acknowledgement : ChatGPT Go is used for code assistance, debugging and documentation; all scientific decisions and conclusions were validated by project team </a:t>
            </a:r>
            <a:endParaRPr lang="en-IN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32D37"/>
      </a:accent1>
      <a:accent2>
        <a:srgbClr val="CFD7E7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986</Words>
  <Application>Microsoft Office PowerPoint</Application>
  <PresentationFormat>Custom</PresentationFormat>
  <Paragraphs>291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win11</dc:creator>
  <cp:lastModifiedBy>win11</cp:lastModifiedBy>
  <cp:revision>7</cp:revision>
  <dcterms:created xsi:type="dcterms:W3CDTF">2013-01-27T09:14:16Z</dcterms:created>
  <dcterms:modified xsi:type="dcterms:W3CDTF">2026-08-17T17:30:43Z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Widescreen</vt:lpwstr>
  </property>
  <property fmtid="{D5CDD505-2E9C-101B-9397-08002B2CF9AE}" pid="4" name="Slides">
    <vt:i4>10</vt:i4>
  </property>
</Properties>
</file>